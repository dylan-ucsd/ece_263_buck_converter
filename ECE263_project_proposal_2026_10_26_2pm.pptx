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5"/>
  </p:notesMasterIdLst>
  <p:sldIdLst>
    <p:sldId id="293" r:id="rId2"/>
    <p:sldId id="280" r:id="rId3"/>
    <p:sldId id="300" r:id="rId4"/>
    <p:sldId id="301" r:id="rId5"/>
    <p:sldId id="302" r:id="rId6"/>
    <p:sldId id="307" r:id="rId7"/>
    <p:sldId id="308" r:id="rId8"/>
    <p:sldId id="309" r:id="rId9"/>
    <p:sldId id="310" r:id="rId10"/>
    <p:sldId id="303" r:id="rId11"/>
    <p:sldId id="305" r:id="rId12"/>
    <p:sldId id="311" r:id="rId13"/>
    <p:sldId id="304" r:id="rId14"/>
  </p:sldIdLst>
  <p:sldSz cx="9144000" cy="5143500" type="screen16x9"/>
  <p:notesSz cx="6858000" cy="9144000"/>
  <p:defaultTextStyle>
    <a:defPPr marL="0" marR="0" indent="0" algn="l" defTabSz="3429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75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91437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Source Sans 3 Regular"/>
        <a:ea typeface="Source Sans 3 Regular"/>
        <a:cs typeface="Source Sans 3 Regular"/>
        <a:sym typeface="Source Sans 3 Regular"/>
      </a:defRPr>
    </a:lvl1pPr>
    <a:lvl2pPr marL="0" marR="0" indent="171450" algn="ctr" defTabSz="91437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Source Sans 3 Regular"/>
        <a:ea typeface="Source Sans 3 Regular"/>
        <a:cs typeface="Source Sans 3 Regular"/>
        <a:sym typeface="Source Sans 3 Regular"/>
      </a:defRPr>
    </a:lvl2pPr>
    <a:lvl3pPr marL="0" marR="0" indent="342900" algn="ctr" defTabSz="91437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Source Sans 3 Regular"/>
        <a:ea typeface="Source Sans 3 Regular"/>
        <a:cs typeface="Source Sans 3 Regular"/>
        <a:sym typeface="Source Sans 3 Regular"/>
      </a:defRPr>
    </a:lvl3pPr>
    <a:lvl4pPr marL="0" marR="0" indent="514350" algn="ctr" defTabSz="91437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Source Sans 3 Regular"/>
        <a:ea typeface="Source Sans 3 Regular"/>
        <a:cs typeface="Source Sans 3 Regular"/>
        <a:sym typeface="Source Sans 3 Regular"/>
      </a:defRPr>
    </a:lvl4pPr>
    <a:lvl5pPr marL="0" marR="0" indent="685800" algn="ctr" defTabSz="91437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Source Sans 3 Regular"/>
        <a:ea typeface="Source Sans 3 Regular"/>
        <a:cs typeface="Source Sans 3 Regular"/>
        <a:sym typeface="Source Sans 3 Regular"/>
      </a:defRPr>
    </a:lvl5pPr>
    <a:lvl6pPr marL="0" marR="0" indent="857250" algn="ctr" defTabSz="91437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Source Sans 3 Regular"/>
        <a:ea typeface="Source Sans 3 Regular"/>
        <a:cs typeface="Source Sans 3 Regular"/>
        <a:sym typeface="Source Sans 3 Regular"/>
      </a:defRPr>
    </a:lvl6pPr>
    <a:lvl7pPr marL="0" marR="0" indent="1028700" algn="ctr" defTabSz="91437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Source Sans 3 Regular"/>
        <a:ea typeface="Source Sans 3 Regular"/>
        <a:cs typeface="Source Sans 3 Regular"/>
        <a:sym typeface="Source Sans 3 Regular"/>
      </a:defRPr>
    </a:lvl7pPr>
    <a:lvl8pPr marL="0" marR="0" indent="1200150" algn="ctr" defTabSz="91437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Source Sans 3 Regular"/>
        <a:ea typeface="Source Sans 3 Regular"/>
        <a:cs typeface="Source Sans 3 Regular"/>
        <a:sym typeface="Source Sans 3 Regular"/>
      </a:defRPr>
    </a:lvl8pPr>
    <a:lvl9pPr marL="0" marR="0" indent="1371600" algn="ctr" defTabSz="91437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Source Sans 3 Regular"/>
        <a:ea typeface="Source Sans 3 Regular"/>
        <a:cs typeface="Source Sans 3 Regular"/>
        <a:sym typeface="Source Sans 3 Regular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Source Sans 3 Regular"/>
          <a:ea typeface="Source Sans 3 Regular"/>
          <a:cs typeface="Source Sans 3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Source Sans 3 Bold"/>
          <a:ea typeface="Source Sans 3 Bold"/>
          <a:cs typeface="Source Sans 3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Source Sans 3 Bold"/>
          <a:ea typeface="Source Sans 3 Bold"/>
          <a:cs typeface="Source Sans 3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Source Sans 3 Bold"/>
          <a:ea typeface="Source Sans 3 Bold"/>
          <a:cs typeface="Source Sans 3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Source Sans 3 Regular"/>
          <a:ea typeface="Source Sans 3 Regular"/>
          <a:cs typeface="Source Sans 3 Regular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Source Sans 3 Bold"/>
          <a:ea typeface="Source Sans 3 Bold"/>
          <a:cs typeface="Source Sans 3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Source Sans 3 Regular"/>
          <a:ea typeface="Source Sans 3 Regular"/>
          <a:cs typeface="Source Sans 3 Regular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Source Sans 3 Bold"/>
          <a:ea typeface="Source Sans 3 Bold"/>
          <a:cs typeface="Source Sans 3 Bold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Source Sans 3 Regular"/>
          <a:ea typeface="Source Sans 3 Regular"/>
          <a:cs typeface="Source Sans 3 Regular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Source Sans 3 Medium"/>
          <a:ea typeface="Source Sans 3 Medium"/>
          <a:cs typeface="Source Sans 3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>
          <a:latin typeface="Source Sans 3 Regular"/>
          <a:ea typeface="Source Sans 3 Regular"/>
          <a:cs typeface="Source Sans 3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Source Sans 3 Medium"/>
          <a:ea typeface="Source Sans 3 Medium"/>
          <a:cs typeface="Source Sans 3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Source Sans 3 Regular"/>
          <a:ea typeface="Source Sans 3 Regular"/>
          <a:cs typeface="Source Sans 3 Regular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Source Sans 3 Medium"/>
          <a:ea typeface="Source Sans 3 Medium"/>
          <a:cs typeface="Source Sans 3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Source Sans 3 Medium"/>
          <a:ea typeface="Source Sans 3 Medium"/>
          <a:cs typeface="Source Sans 3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Source Sans 3 Medium"/>
          <a:ea typeface="Source Sans 3 Medium"/>
          <a:cs typeface="Source Sans 3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Source Sans 3 Regular"/>
          <a:ea typeface="Source Sans 3 Regular"/>
          <a:cs typeface="Source Sans 3 Regular"/>
        </a:font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>
          <a:latin typeface="Source Sans 3 Bold"/>
          <a:ea typeface="Source Sans 3 Bold"/>
          <a:cs typeface="Source Sans 3 Bold"/>
        </a:font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>
          <a:latin typeface="Source Sans 3 Bold"/>
          <a:ea typeface="Source Sans 3 Bold"/>
          <a:cs typeface="Source Sans 3 Bold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Source Sans 3 Bold"/>
          <a:ea typeface="Source Sans 3 Bold"/>
          <a:cs typeface="Source Sans 3 Bold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Source Sans 3 Regular"/>
          <a:ea typeface="Source Sans 3 Regular"/>
          <a:cs typeface="Source Sans 3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Source Sans 3 Bold"/>
          <a:ea typeface="Source Sans 3 Bold"/>
          <a:cs typeface="Source Sans 3 Bold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Source Sans 3 Bold"/>
          <a:ea typeface="Source Sans 3 Bold"/>
          <a:cs typeface="Source Sans 3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Source Sans 3 Bold"/>
          <a:ea typeface="Source Sans 3 Bold"/>
          <a:cs typeface="Source Sans 3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34"/>
    <p:restoredTop sz="94673"/>
  </p:normalViewPr>
  <p:slideViewPr>
    <p:cSldViewPr snapToGrid="0" showGuides="1">
      <p:cViewPr>
        <p:scale>
          <a:sx n="118" d="100"/>
          <a:sy n="118" d="100"/>
        </p:scale>
        <p:origin x="485" y="-17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22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222" name="Shape 22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71450" latinLnBrk="0">
      <a:lnSpc>
        <a:spcPct val="117999"/>
      </a:lnSpc>
      <a:defRPr sz="825" b="0" i="0">
        <a:latin typeface="Calibri" panose="020F0502020204030204" pitchFamily="34" charset="0"/>
        <a:ea typeface="Calibri" panose="020F0502020204030204" pitchFamily="34" charset="0"/>
        <a:cs typeface="Calibri" panose="020F0502020204030204" pitchFamily="34" charset="0"/>
        <a:sym typeface="Source Sans 3 Regular"/>
      </a:defRPr>
    </a:lvl1pPr>
    <a:lvl2pPr indent="85725" defTabSz="171450" latinLnBrk="0">
      <a:lnSpc>
        <a:spcPct val="117999"/>
      </a:lnSpc>
      <a:defRPr sz="825">
        <a:latin typeface="Source Sans 3 Regular"/>
        <a:ea typeface="Source Sans 3 Regular"/>
        <a:cs typeface="Source Sans 3 Regular"/>
        <a:sym typeface="Source Sans 3 Regular"/>
      </a:defRPr>
    </a:lvl2pPr>
    <a:lvl3pPr indent="171450" defTabSz="171450" latinLnBrk="0">
      <a:lnSpc>
        <a:spcPct val="117999"/>
      </a:lnSpc>
      <a:defRPr sz="825">
        <a:latin typeface="Source Sans 3 Regular"/>
        <a:ea typeface="Source Sans 3 Regular"/>
        <a:cs typeface="Source Sans 3 Regular"/>
        <a:sym typeface="Source Sans 3 Regular"/>
      </a:defRPr>
    </a:lvl3pPr>
    <a:lvl4pPr indent="257175" defTabSz="171450" latinLnBrk="0">
      <a:lnSpc>
        <a:spcPct val="117999"/>
      </a:lnSpc>
      <a:defRPr sz="825">
        <a:latin typeface="Source Sans 3 Regular"/>
        <a:ea typeface="Source Sans 3 Regular"/>
        <a:cs typeface="Source Sans 3 Regular"/>
        <a:sym typeface="Source Sans 3 Regular"/>
      </a:defRPr>
    </a:lvl4pPr>
    <a:lvl5pPr indent="342900" defTabSz="171450" latinLnBrk="0">
      <a:lnSpc>
        <a:spcPct val="117999"/>
      </a:lnSpc>
      <a:defRPr sz="825">
        <a:latin typeface="Source Sans 3 Regular"/>
        <a:ea typeface="Source Sans 3 Regular"/>
        <a:cs typeface="Source Sans 3 Regular"/>
        <a:sym typeface="Source Sans 3 Regular"/>
      </a:defRPr>
    </a:lvl5pPr>
    <a:lvl6pPr indent="428625" defTabSz="171450" latinLnBrk="0">
      <a:lnSpc>
        <a:spcPct val="117999"/>
      </a:lnSpc>
      <a:defRPr sz="825">
        <a:latin typeface="Source Sans 3 Regular"/>
        <a:ea typeface="Source Sans 3 Regular"/>
        <a:cs typeface="Source Sans 3 Regular"/>
        <a:sym typeface="Source Sans 3 Regular"/>
      </a:defRPr>
    </a:lvl6pPr>
    <a:lvl7pPr indent="514350" defTabSz="171450" latinLnBrk="0">
      <a:lnSpc>
        <a:spcPct val="117999"/>
      </a:lnSpc>
      <a:defRPr sz="825">
        <a:latin typeface="Source Sans 3 Regular"/>
        <a:ea typeface="Source Sans 3 Regular"/>
        <a:cs typeface="Source Sans 3 Regular"/>
        <a:sym typeface="Source Sans 3 Regular"/>
      </a:defRPr>
    </a:lvl7pPr>
    <a:lvl8pPr indent="600075" defTabSz="171450" latinLnBrk="0">
      <a:lnSpc>
        <a:spcPct val="117999"/>
      </a:lnSpc>
      <a:defRPr sz="825">
        <a:latin typeface="Source Sans 3 Regular"/>
        <a:ea typeface="Source Sans 3 Regular"/>
        <a:cs typeface="Source Sans 3 Regular"/>
        <a:sym typeface="Source Sans 3 Regular"/>
      </a:defRPr>
    </a:lvl8pPr>
    <a:lvl9pPr indent="685800" defTabSz="171450" latinLnBrk="0">
      <a:lnSpc>
        <a:spcPct val="117999"/>
      </a:lnSpc>
      <a:defRPr sz="825">
        <a:latin typeface="Source Sans 3 Regular"/>
        <a:ea typeface="Source Sans 3 Regular"/>
        <a:cs typeface="Source Sans 3 Regular"/>
        <a:sym typeface="Source Sans 3 Regular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631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UCSD-BrandRefresh-PPTBackgrounds-v4_Blues-NotchTop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" b="26"/>
          <a:stretch/>
        </p:blipFill>
        <p:spPr>
          <a:xfrm>
            <a:off x="1850" y="0"/>
            <a:ext cx="91403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UCSanDiegoLogo-White.png"/>
          <p:cNvSpPr>
            <a:spLocks noGrp="1"/>
          </p:cNvSpPr>
          <p:nvPr>
            <p:ph type="pic" sz="quarter" idx="21" hasCustomPrompt="1"/>
          </p:nvPr>
        </p:nvSpPr>
        <p:spPr>
          <a:xfrm>
            <a:off x="6819843" y="286172"/>
            <a:ext cx="2009775" cy="38225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</a:t>
            </a:r>
            <a:endParaRPr dirty="0"/>
          </a:p>
        </p:txBody>
      </p:sp>
      <p:sp>
        <p:nvSpPr>
          <p:cNvPr id="14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457201" y="4447449"/>
            <a:ext cx="8229598" cy="238867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263128">
              <a:lnSpc>
                <a:spcPct val="100000"/>
              </a:lnSpc>
              <a:buNone/>
              <a:defRPr sz="1100" b="0" i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ource Sans 3 Regular"/>
              </a:defRPr>
            </a:lvl1pPr>
          </a:lstStyle>
          <a:p>
            <a:r>
              <a:rPr dirty="0"/>
              <a:t>Author and Date</a:t>
            </a:r>
          </a:p>
        </p:txBody>
      </p:sp>
      <p:sp>
        <p:nvSpPr>
          <p:cNvPr id="16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2782661"/>
            <a:ext cx="8229600" cy="71437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 defTabSz="309563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ource Sans 3 Regular"/>
              </a:defRPr>
            </a:lvl1pPr>
            <a:lvl2pPr marL="228600" indent="0" algn="l" defTabSz="309563">
              <a:lnSpc>
                <a:spcPct val="100000"/>
              </a:lnSpc>
              <a:buNone/>
              <a:defRPr sz="1875">
                <a:solidFill>
                  <a:schemeClr val="bg1"/>
                </a:solidFill>
                <a:latin typeface="Source Sans 3 Regular"/>
                <a:ea typeface="Source Sans 3 Regular"/>
                <a:cs typeface="Source Sans 3 Regular"/>
                <a:sym typeface="Source Sans 3 Regular"/>
              </a:defRPr>
            </a:lvl2pPr>
            <a:lvl3pPr marL="457200" indent="0" algn="l" defTabSz="309563">
              <a:lnSpc>
                <a:spcPct val="100000"/>
              </a:lnSpc>
              <a:buNone/>
              <a:defRPr sz="1875">
                <a:latin typeface="Source Sans 3 Regular"/>
                <a:ea typeface="Source Sans 3 Regular"/>
                <a:cs typeface="Source Sans 3 Regular"/>
                <a:sym typeface="Source Sans 3 Regular"/>
              </a:defRPr>
            </a:lvl3pPr>
            <a:lvl4pPr marL="685800" indent="0" algn="l" defTabSz="309563">
              <a:lnSpc>
                <a:spcPct val="100000"/>
              </a:lnSpc>
              <a:buNone/>
              <a:defRPr sz="1875">
                <a:latin typeface="Source Sans 3 Regular"/>
                <a:ea typeface="Source Sans 3 Regular"/>
                <a:cs typeface="Source Sans 3 Regular"/>
                <a:sym typeface="Source Sans 3 Regular"/>
              </a:defRPr>
            </a:lvl4pPr>
            <a:lvl5pPr marL="914400" indent="0" algn="l" defTabSz="309563">
              <a:lnSpc>
                <a:spcPct val="100000"/>
              </a:lnSpc>
              <a:buNone/>
              <a:defRPr sz="1875">
                <a:solidFill>
                  <a:schemeClr val="bg1"/>
                </a:solidFill>
                <a:latin typeface="Source Sans 3 Regular"/>
                <a:ea typeface="Source Sans 3 Regular"/>
                <a:cs typeface="Source Sans 3 Regular"/>
                <a:sym typeface="Source Sans 3 Regular"/>
              </a:defRPr>
            </a:lvl5pPr>
          </a:lstStyle>
          <a:p>
            <a:r>
              <a:rPr dirty="0"/>
              <a:t>Presentation Subtitl</a:t>
            </a:r>
            <a:r>
              <a:rPr lang="en-US" dirty="0"/>
              <a:t>e</a:t>
            </a:r>
            <a:endParaRPr dirty="0"/>
          </a:p>
        </p:txBody>
      </p:sp>
      <p:sp>
        <p:nvSpPr>
          <p:cNvPr id="15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457200" y="1057275"/>
            <a:ext cx="8229599" cy="1711938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>
              <a:defRPr sz="52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30B93-35AA-47C1-BC59-13DFC7F64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E1BE4795-2E63-448C-E789-737011D42C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1300163"/>
            <a:ext cx="8229600" cy="3128962"/>
          </a:xfrm>
        </p:spPr>
        <p:txBody>
          <a:bodyPr/>
          <a:lstStyle/>
          <a:p>
            <a:pPr lvl="0"/>
            <a:r>
              <a:rPr lang="en-US" dirty="0"/>
              <a:t>Click to edit bulleted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8EFC921C-EE06-5F37-7579-94A37A66E0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 dirty="0"/>
              <a:t>Blue and Gold Template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5043182-23AB-DE81-0C05-063A6998443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/>
            </a:lvl1pPr>
          </a:lstStyle>
          <a:p>
            <a:fld id="{10182D5C-5622-0748-8D9A-CE71C49FA20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UCSD-BrandRefresh-PPTBackgrounds-v4_Blues-NotchTopBottom.png">
            <a:extLst>
              <a:ext uri="{FF2B5EF4-FFF2-40B4-BE49-F238E27FC236}">
                <a16:creationId xmlns:a16="http://schemas.microsoft.com/office/drawing/2014/main" id="{5F985846-5CFC-136D-323D-4874477FA05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148763" cy="5148262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UCSanDiegoLogo-White.png">
            <a:extLst>
              <a:ext uri="{FF2B5EF4-FFF2-40B4-BE49-F238E27FC236}">
                <a16:creationId xmlns:a16="http://schemas.microsoft.com/office/drawing/2014/main" id="{C73416EC-27BF-65AC-3738-9E092C8A23D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38833" y="240172"/>
            <a:ext cx="1377802" cy="258338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2CD74A2-5C42-4294-F48A-657B5E789A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880" y="4847825"/>
            <a:ext cx="274319" cy="2191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10182D5C-5622-0748-8D9A-CE71C49FA20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EA6684EF-69E9-43CC-C215-6D2F39D2FC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199" y="4847825"/>
            <a:ext cx="1561625" cy="21910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Blue and Gold Template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1882680-A1EE-E7ED-C5AB-CE326D438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00163"/>
            <a:ext cx="8229600" cy="312896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48A6C597-26D8-1135-3219-8F5D1AECE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02336"/>
            <a:ext cx="6375400" cy="65722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</p:sldLayoutIdLst>
  <p:transition spd="med"/>
  <p:hf hdr="0" dt="0"/>
  <p:txStyles>
    <p:titleStyle>
      <a:lvl1pPr marL="0" marR="0" indent="0" algn="l" defTabSz="91437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chemeClr val="tx1"/>
          </a:solidFill>
          <a:uFillTx/>
          <a:latin typeface="Calibri" panose="020F0502020204030204" pitchFamily="34" charset="0"/>
          <a:ea typeface="+mn-ea"/>
          <a:cs typeface="+mn-cs"/>
          <a:sym typeface="Teko Bold"/>
        </a:defRPr>
      </a:lvl1pPr>
      <a:lvl2pPr marL="0" marR="0" indent="171450" algn="l" defTabSz="91437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75" b="0" i="0" u="none" strike="noStrike" cap="none" spc="0" baseline="0">
          <a:solidFill>
            <a:srgbClr val="182B49"/>
          </a:solidFill>
          <a:uFillTx/>
          <a:latin typeface="+mn-lt"/>
          <a:ea typeface="+mn-ea"/>
          <a:cs typeface="+mn-cs"/>
          <a:sym typeface="Teko Bold"/>
        </a:defRPr>
      </a:lvl2pPr>
      <a:lvl3pPr marL="0" marR="0" indent="342900" algn="l" defTabSz="91437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75" b="0" i="0" u="none" strike="noStrike" cap="none" spc="0" baseline="0">
          <a:solidFill>
            <a:srgbClr val="182B49"/>
          </a:solidFill>
          <a:uFillTx/>
          <a:latin typeface="+mn-lt"/>
          <a:ea typeface="+mn-ea"/>
          <a:cs typeface="+mn-cs"/>
          <a:sym typeface="Teko Bold"/>
        </a:defRPr>
      </a:lvl3pPr>
      <a:lvl4pPr marL="0" marR="0" indent="514350" algn="l" defTabSz="91437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75" b="0" i="0" u="none" strike="noStrike" cap="none" spc="0" baseline="0">
          <a:solidFill>
            <a:srgbClr val="182B49"/>
          </a:solidFill>
          <a:uFillTx/>
          <a:latin typeface="+mn-lt"/>
          <a:ea typeface="+mn-ea"/>
          <a:cs typeface="+mn-cs"/>
          <a:sym typeface="Teko Bold"/>
        </a:defRPr>
      </a:lvl4pPr>
      <a:lvl5pPr marL="0" marR="0" indent="685800" algn="l" defTabSz="91437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75" b="0" i="0" u="none" strike="noStrike" cap="none" spc="0" baseline="0">
          <a:solidFill>
            <a:srgbClr val="182B49"/>
          </a:solidFill>
          <a:uFillTx/>
          <a:latin typeface="+mn-lt"/>
          <a:ea typeface="+mn-ea"/>
          <a:cs typeface="+mn-cs"/>
          <a:sym typeface="Teko Bold"/>
        </a:defRPr>
      </a:lvl5pPr>
      <a:lvl6pPr marL="0" marR="0" indent="857250" algn="l" defTabSz="91437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75" b="0" i="0" u="none" strike="noStrike" cap="none" spc="0" baseline="0">
          <a:solidFill>
            <a:srgbClr val="182B49"/>
          </a:solidFill>
          <a:uFillTx/>
          <a:latin typeface="+mn-lt"/>
          <a:ea typeface="+mn-ea"/>
          <a:cs typeface="+mn-cs"/>
          <a:sym typeface="Teko Bold"/>
        </a:defRPr>
      </a:lvl6pPr>
      <a:lvl7pPr marL="0" marR="0" indent="1028700" algn="l" defTabSz="91437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75" b="0" i="0" u="none" strike="noStrike" cap="none" spc="0" baseline="0">
          <a:solidFill>
            <a:srgbClr val="182B49"/>
          </a:solidFill>
          <a:uFillTx/>
          <a:latin typeface="+mn-lt"/>
          <a:ea typeface="+mn-ea"/>
          <a:cs typeface="+mn-cs"/>
          <a:sym typeface="Teko Bold"/>
        </a:defRPr>
      </a:lvl7pPr>
      <a:lvl8pPr marL="0" marR="0" indent="1200150" algn="l" defTabSz="91437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75" b="0" i="0" u="none" strike="noStrike" cap="none" spc="0" baseline="0">
          <a:solidFill>
            <a:srgbClr val="182B49"/>
          </a:solidFill>
          <a:uFillTx/>
          <a:latin typeface="+mn-lt"/>
          <a:ea typeface="+mn-ea"/>
          <a:cs typeface="+mn-cs"/>
          <a:sym typeface="Teko Bold"/>
        </a:defRPr>
      </a:lvl8pPr>
      <a:lvl9pPr marL="0" marR="0" indent="1371600" algn="l" defTabSz="91437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75" b="0" i="0" u="none" strike="noStrike" cap="none" spc="0" baseline="0">
          <a:solidFill>
            <a:srgbClr val="182B49"/>
          </a:solidFill>
          <a:uFillTx/>
          <a:latin typeface="+mn-lt"/>
          <a:ea typeface="+mn-ea"/>
          <a:cs typeface="+mn-cs"/>
          <a:sym typeface="Teko Bold"/>
        </a:defRPr>
      </a:lvl9pPr>
    </p:titleStyle>
    <p:bodyStyle>
      <a:lvl1pPr marL="228600" marR="0" indent="-228600" algn="l" defTabSz="914377" rtl="0" latinLnBrk="0">
        <a:lnSpc>
          <a:spcPct val="100000"/>
        </a:lnSpc>
        <a:spcBef>
          <a:spcPts val="1313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600" b="0" i="0" u="none" strike="noStrike" cap="none" spc="0" baseline="0">
          <a:solidFill>
            <a:schemeClr val="tx1"/>
          </a:solidFill>
          <a:uFillTx/>
          <a:latin typeface="Calibri" panose="020F0502020204030204" pitchFamily="34" charset="0"/>
          <a:ea typeface="+mn-ea"/>
          <a:cs typeface="+mn-cs"/>
          <a:sym typeface="Teko Bold"/>
        </a:defRPr>
      </a:lvl1pPr>
      <a:lvl2pPr marL="457200" marR="0" indent="-228600" algn="l" defTabSz="914377" rtl="0" latinLnBrk="0">
        <a:lnSpc>
          <a:spcPct val="100000"/>
        </a:lnSpc>
        <a:spcBef>
          <a:spcPts val="1313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600" b="0" i="0" u="none" strike="noStrike" cap="none" spc="0" baseline="0">
          <a:solidFill>
            <a:schemeClr val="tx1"/>
          </a:solidFill>
          <a:uFillTx/>
          <a:latin typeface="Calibri" panose="020F0502020204030204" pitchFamily="34" charset="0"/>
          <a:ea typeface="+mn-ea"/>
          <a:cs typeface="+mn-cs"/>
          <a:sym typeface="Teko Bold"/>
        </a:defRPr>
      </a:lvl2pPr>
      <a:lvl3pPr marL="685800" marR="0" indent="-228600" algn="l" defTabSz="914377" rtl="0" latinLnBrk="0">
        <a:lnSpc>
          <a:spcPct val="100000"/>
        </a:lnSpc>
        <a:spcBef>
          <a:spcPts val="1313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600" b="0" i="0" u="none" strike="noStrike" cap="none" spc="0" baseline="0">
          <a:solidFill>
            <a:schemeClr val="tx1"/>
          </a:solidFill>
          <a:uFillTx/>
          <a:latin typeface="Calibri" panose="020F0502020204030204" pitchFamily="34" charset="0"/>
          <a:ea typeface="+mn-ea"/>
          <a:cs typeface="+mn-cs"/>
          <a:sym typeface="Teko Bold"/>
        </a:defRPr>
      </a:lvl3pPr>
      <a:lvl4pPr marL="914400" marR="0" indent="-228600" algn="l" defTabSz="914377" rtl="0" latinLnBrk="0">
        <a:lnSpc>
          <a:spcPct val="100000"/>
        </a:lnSpc>
        <a:spcBef>
          <a:spcPts val="1313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600" b="0" i="0" u="none" strike="noStrike" cap="none" spc="0" baseline="0">
          <a:solidFill>
            <a:schemeClr val="tx1"/>
          </a:solidFill>
          <a:uFillTx/>
          <a:latin typeface="Calibri" panose="020F0502020204030204" pitchFamily="34" charset="0"/>
          <a:ea typeface="+mn-ea"/>
          <a:cs typeface="+mn-cs"/>
          <a:sym typeface="Teko Bold"/>
        </a:defRPr>
      </a:lvl4pPr>
      <a:lvl5pPr marL="1143000" marR="0" indent="-228600" algn="l" defTabSz="914377" rtl="0" latinLnBrk="0">
        <a:lnSpc>
          <a:spcPct val="100000"/>
        </a:lnSpc>
        <a:spcBef>
          <a:spcPts val="1313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600" b="0" i="0" u="none" strike="noStrike" cap="none" spc="0" baseline="0">
          <a:solidFill>
            <a:schemeClr val="tx1"/>
          </a:solidFill>
          <a:uFillTx/>
          <a:latin typeface="Calibri" panose="020F0502020204030204" pitchFamily="34" charset="0"/>
          <a:ea typeface="+mn-ea"/>
          <a:cs typeface="+mn-cs"/>
          <a:sym typeface="Teko Bold"/>
        </a:defRPr>
      </a:lvl5pPr>
      <a:lvl6pPr marL="914400" marR="0" indent="-228600" algn="l" defTabSz="914377" rtl="0" latinLnBrk="0">
        <a:lnSpc>
          <a:spcPct val="90000"/>
        </a:lnSpc>
        <a:spcBef>
          <a:spcPts val="1313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750" b="0" i="0" u="none" strike="noStrike" cap="none" spc="0" baseline="0">
          <a:solidFill>
            <a:schemeClr val="tx1"/>
          </a:solidFill>
          <a:uFillTx/>
          <a:latin typeface="Source Sans 3" panose="020B0303030403020204" pitchFamily="34" charset="0"/>
          <a:ea typeface="+mn-ea"/>
          <a:cs typeface="+mn-cs"/>
          <a:sym typeface="Teko Bold"/>
        </a:defRPr>
      </a:lvl6pPr>
      <a:lvl7pPr marL="457200" marR="0" indent="-228600" algn="l" defTabSz="914377" rtl="0" latinLnBrk="0">
        <a:lnSpc>
          <a:spcPct val="90000"/>
        </a:lnSpc>
        <a:spcBef>
          <a:spcPts val="1313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750" b="0" i="0" u="none" strike="noStrike" cap="none" spc="0" baseline="0">
          <a:solidFill>
            <a:schemeClr val="tx1"/>
          </a:solidFill>
          <a:uFillTx/>
          <a:latin typeface="Source Sans 3" panose="020B0303030403020204" pitchFamily="34" charset="0"/>
          <a:ea typeface="+mn-ea"/>
          <a:cs typeface="+mn-cs"/>
          <a:sym typeface="Teko Bold"/>
        </a:defRPr>
      </a:lvl7pPr>
      <a:lvl8pPr marL="685800" marR="0" indent="-228600" algn="l" defTabSz="914377" rtl="0" latinLnBrk="0">
        <a:lnSpc>
          <a:spcPct val="90000"/>
        </a:lnSpc>
        <a:spcBef>
          <a:spcPts val="1313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750" b="0" i="0" u="none" strike="noStrike" cap="none" spc="0" baseline="0">
          <a:solidFill>
            <a:schemeClr val="tx1"/>
          </a:solidFill>
          <a:uFillTx/>
          <a:latin typeface="Source Sans 3" panose="020B0303030403020204" pitchFamily="34" charset="0"/>
          <a:ea typeface="+mn-ea"/>
          <a:cs typeface="+mn-cs"/>
          <a:sym typeface="Teko Bold"/>
        </a:defRPr>
      </a:lvl8pPr>
      <a:lvl9pPr marL="914400" marR="0" indent="-228600" algn="l" defTabSz="914377" rtl="0" latinLnBrk="0">
        <a:lnSpc>
          <a:spcPct val="90000"/>
        </a:lnSpc>
        <a:spcBef>
          <a:spcPts val="1313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750" b="0" i="0" u="none" strike="noStrike" cap="none" spc="0" baseline="0">
          <a:solidFill>
            <a:schemeClr val="tx1"/>
          </a:solidFill>
          <a:uFillTx/>
          <a:latin typeface="Source Sans 3" panose="020B0303030403020204" pitchFamily="34" charset="0"/>
          <a:ea typeface="+mn-ea"/>
          <a:cs typeface="+mn-cs"/>
          <a:sym typeface="Teko Bold"/>
        </a:defRPr>
      </a:lvl9pPr>
    </p:bodyStyle>
    <p:otherStyle>
      <a:lvl1pPr marL="0" marR="0" indent="0" algn="ctr" defTabSz="2190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3 Regular"/>
        </a:defRPr>
      </a:lvl1pPr>
      <a:lvl2pPr marL="0" marR="0" indent="171450" algn="ctr" defTabSz="2190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3 Regular"/>
        </a:defRPr>
      </a:lvl2pPr>
      <a:lvl3pPr marL="0" marR="0" indent="342900" algn="ctr" defTabSz="2190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3 Regular"/>
        </a:defRPr>
      </a:lvl3pPr>
      <a:lvl4pPr marL="0" marR="0" indent="514350" algn="ctr" defTabSz="2190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3 Regular"/>
        </a:defRPr>
      </a:lvl4pPr>
      <a:lvl5pPr marL="0" marR="0" indent="685800" algn="ctr" defTabSz="2190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3 Regular"/>
        </a:defRPr>
      </a:lvl5pPr>
      <a:lvl6pPr marL="0" marR="0" indent="857250" algn="ctr" defTabSz="2190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3 Regular"/>
        </a:defRPr>
      </a:lvl6pPr>
      <a:lvl7pPr marL="0" marR="0" indent="1028700" algn="ctr" defTabSz="2190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3 Regular"/>
        </a:defRPr>
      </a:lvl7pPr>
      <a:lvl8pPr marL="0" marR="0" indent="1200150" algn="ctr" defTabSz="2190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3 Regular"/>
        </a:defRPr>
      </a:lvl8pPr>
      <a:lvl9pPr marL="0" marR="0" indent="1371600" algn="ctr" defTabSz="2190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3 Regular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5" orient="horz" pos="819" userDrawn="1">
          <p15:clr>
            <a:srgbClr val="F26B43"/>
          </p15:clr>
        </p15:guide>
        <p15:guide id="6" orient="horz" pos="2790" userDrawn="1">
          <p15:clr>
            <a:srgbClr val="F26B43"/>
          </p15:clr>
        </p15:guide>
        <p15:guide id="7" orient="horz" pos="252" userDrawn="1">
          <p15:clr>
            <a:srgbClr val="F26B43"/>
          </p15:clr>
        </p15:guide>
        <p15:guide id="8" orient="horz" pos="666" userDrawn="1">
          <p15:clr>
            <a:srgbClr val="F26B43"/>
          </p15:clr>
        </p15:guide>
        <p15:guide id="9" pos="288" userDrawn="1">
          <p15:clr>
            <a:srgbClr val="F26B43"/>
          </p15:clr>
        </p15:guide>
        <p15:guide id="10" pos="5472" userDrawn="1">
          <p15:clr>
            <a:srgbClr val="F26B43"/>
          </p15:clr>
        </p15:guide>
        <p15:guide id="11" pos="259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 descr="A blue and black logo&#10;&#10;Description automatically generated">
            <a:extLst>
              <a:ext uri="{FF2B5EF4-FFF2-40B4-BE49-F238E27FC236}">
                <a16:creationId xmlns:a16="http://schemas.microsoft.com/office/drawing/2014/main" id="{A74FC1AD-F2B0-4DC8-0C63-F1239F070688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19843" y="286173"/>
            <a:ext cx="2009775" cy="382257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A752EE-A7CA-5BE7-E282-FE97FB9C89A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October 26</a:t>
            </a:r>
            <a:r>
              <a:rPr lang="en-US" baseline="30000" dirty="0"/>
              <a:t>th</a:t>
            </a:r>
            <a:r>
              <a:rPr lang="en-US" dirty="0"/>
              <a:t> 2026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824478-F1D0-51A8-DE00-843723F80439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364787" y="2776642"/>
            <a:ext cx="8229600" cy="714375"/>
          </a:xfrm>
        </p:spPr>
        <p:txBody>
          <a:bodyPr/>
          <a:lstStyle/>
          <a:p>
            <a:pPr algn="ctr"/>
            <a:r>
              <a:rPr lang="en-US" sz="3600" dirty="0"/>
              <a:t>Oliver’s Underlings</a:t>
            </a:r>
          </a:p>
          <a:p>
            <a:pPr algn="ctr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26717EB-9F69-FFC2-6A78-D560A50EA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430"/>
            <a:ext cx="8229599" cy="1711938"/>
          </a:xfrm>
        </p:spPr>
        <p:txBody>
          <a:bodyPr/>
          <a:lstStyle/>
          <a:p>
            <a:pPr algn="ctr"/>
            <a:r>
              <a:rPr lang="en-US" dirty="0"/>
              <a:t>ECE 263 Project Proposal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49FB28-D552-E8FF-EF1A-411E6CEC53E6}"/>
              </a:ext>
            </a:extLst>
          </p:cNvPr>
          <p:cNvSpPr/>
          <p:nvPr/>
        </p:nvSpPr>
        <p:spPr>
          <a:xfrm>
            <a:off x="1335694" y="2522978"/>
            <a:ext cx="6489036" cy="111054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Source Sans 3 Medium"/>
              <a:ea typeface="Source Sans 3 Medium"/>
              <a:cs typeface="Source Sans 3 Medium"/>
              <a:sym typeface="Source Sans 3 Medium"/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1547A81-86F1-EADE-FE3D-7AFCFC2DCA5D}"/>
              </a:ext>
            </a:extLst>
          </p:cNvPr>
          <p:cNvSpPr txBox="1">
            <a:spLocks/>
          </p:cNvSpPr>
          <p:nvPr/>
        </p:nvSpPr>
        <p:spPr>
          <a:xfrm>
            <a:off x="457199" y="3491017"/>
            <a:ext cx="8229600" cy="71437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marR="0" indent="0" algn="l" defTabSz="309563" rtl="0" latinLnBrk="0">
              <a:lnSpc>
                <a:spcPct val="100000"/>
              </a:lnSpc>
              <a:spcBef>
                <a:spcPts val="13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 u="none" strike="noStrike" cap="none" spc="0" baseline="0">
                <a:solidFill>
                  <a:schemeClr val="bg1"/>
                </a:solidFill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ource Sans 3 Regular"/>
              </a:defRPr>
            </a:lvl1pPr>
            <a:lvl2pPr marL="228600" marR="0" indent="0" algn="l" defTabSz="309563" rtl="0" latinLnBrk="0">
              <a:lnSpc>
                <a:spcPct val="100000"/>
              </a:lnSpc>
              <a:spcBef>
                <a:spcPts val="13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75" b="0" i="0" u="none" strike="noStrike" cap="none" spc="0" baseline="0">
                <a:solidFill>
                  <a:schemeClr val="bg1"/>
                </a:solidFill>
                <a:uFillTx/>
                <a:latin typeface="Source Sans 3 Regular"/>
                <a:ea typeface="Source Sans 3 Regular"/>
                <a:cs typeface="Source Sans 3 Regular"/>
                <a:sym typeface="Source Sans 3 Regular"/>
              </a:defRPr>
            </a:lvl2pPr>
            <a:lvl3pPr marL="457200" marR="0" indent="0" algn="l" defTabSz="309563" rtl="0" latinLnBrk="0">
              <a:lnSpc>
                <a:spcPct val="100000"/>
              </a:lnSpc>
              <a:spcBef>
                <a:spcPts val="13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75" b="0" i="0" u="none" strike="noStrike" cap="none" spc="0" baseline="0">
                <a:solidFill>
                  <a:schemeClr val="tx1"/>
                </a:solidFill>
                <a:uFillTx/>
                <a:latin typeface="Source Sans 3 Regular"/>
                <a:ea typeface="Source Sans 3 Regular"/>
                <a:cs typeface="Source Sans 3 Regular"/>
                <a:sym typeface="Source Sans 3 Regular"/>
              </a:defRPr>
            </a:lvl3pPr>
            <a:lvl4pPr marL="685800" marR="0" indent="0" algn="l" defTabSz="309563" rtl="0" latinLnBrk="0">
              <a:lnSpc>
                <a:spcPct val="100000"/>
              </a:lnSpc>
              <a:spcBef>
                <a:spcPts val="13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75" b="0" i="0" u="none" strike="noStrike" cap="none" spc="0" baseline="0">
                <a:solidFill>
                  <a:schemeClr val="tx1"/>
                </a:solidFill>
                <a:uFillTx/>
                <a:latin typeface="Source Sans 3 Regular"/>
                <a:ea typeface="Source Sans 3 Regular"/>
                <a:cs typeface="Source Sans 3 Regular"/>
                <a:sym typeface="Source Sans 3 Regular"/>
              </a:defRPr>
            </a:lvl4pPr>
            <a:lvl5pPr marL="914400" marR="0" indent="0" algn="l" defTabSz="309563" rtl="0" latinLnBrk="0">
              <a:lnSpc>
                <a:spcPct val="100000"/>
              </a:lnSpc>
              <a:spcBef>
                <a:spcPts val="13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75" b="0" i="0" u="none" strike="noStrike" cap="none" spc="0" baseline="0">
                <a:solidFill>
                  <a:schemeClr val="bg1"/>
                </a:solidFill>
                <a:uFillTx/>
                <a:latin typeface="Source Sans 3 Regular"/>
                <a:ea typeface="Source Sans 3 Regular"/>
                <a:cs typeface="Source Sans 3 Regular"/>
                <a:sym typeface="Source Sans 3 Regular"/>
              </a:defRPr>
            </a:lvl5pPr>
            <a:lvl6pPr marL="914400" marR="0" indent="-228600" algn="l" defTabSz="914377" rtl="0" latinLnBrk="0">
              <a:lnSpc>
                <a:spcPct val="90000"/>
              </a:lnSpc>
              <a:spcBef>
                <a:spcPts val="13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750" b="0" i="0" u="none" strike="noStrike" cap="none" spc="0" baseline="0">
                <a:solidFill>
                  <a:schemeClr val="tx1"/>
                </a:solidFill>
                <a:uFillTx/>
                <a:latin typeface="Source Sans 3" panose="020B0303030403020204" pitchFamily="34" charset="0"/>
                <a:ea typeface="+mn-ea"/>
                <a:cs typeface="+mn-cs"/>
                <a:sym typeface="Teko Bold"/>
              </a:defRPr>
            </a:lvl6pPr>
            <a:lvl7pPr marL="457200" marR="0" indent="-228600" algn="l" defTabSz="914377" rtl="0" latinLnBrk="0">
              <a:lnSpc>
                <a:spcPct val="90000"/>
              </a:lnSpc>
              <a:spcBef>
                <a:spcPts val="13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750" b="0" i="0" u="none" strike="noStrike" cap="none" spc="0" baseline="0">
                <a:solidFill>
                  <a:schemeClr val="tx1"/>
                </a:solidFill>
                <a:uFillTx/>
                <a:latin typeface="Source Sans 3" panose="020B0303030403020204" pitchFamily="34" charset="0"/>
                <a:ea typeface="+mn-ea"/>
                <a:cs typeface="+mn-cs"/>
                <a:sym typeface="Teko Bold"/>
              </a:defRPr>
            </a:lvl7pPr>
            <a:lvl8pPr marL="685800" marR="0" indent="-228600" algn="l" defTabSz="914377" rtl="0" latinLnBrk="0">
              <a:lnSpc>
                <a:spcPct val="90000"/>
              </a:lnSpc>
              <a:spcBef>
                <a:spcPts val="13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750" b="0" i="0" u="none" strike="noStrike" cap="none" spc="0" baseline="0">
                <a:solidFill>
                  <a:schemeClr val="tx1"/>
                </a:solidFill>
                <a:uFillTx/>
                <a:latin typeface="Source Sans 3" panose="020B0303030403020204" pitchFamily="34" charset="0"/>
                <a:ea typeface="+mn-ea"/>
                <a:cs typeface="+mn-cs"/>
                <a:sym typeface="Teko Bold"/>
              </a:defRPr>
            </a:lvl8pPr>
            <a:lvl9pPr marL="914400" marR="0" indent="-228600" algn="l" defTabSz="914377" rtl="0" latinLnBrk="0">
              <a:lnSpc>
                <a:spcPct val="90000"/>
              </a:lnSpc>
              <a:spcBef>
                <a:spcPts val="13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750" b="0" i="0" u="none" strike="noStrike" cap="none" spc="0" baseline="0">
                <a:solidFill>
                  <a:schemeClr val="tx1"/>
                </a:solidFill>
                <a:uFillTx/>
                <a:latin typeface="Source Sans 3" panose="020B0303030403020204" pitchFamily="34" charset="0"/>
                <a:ea typeface="+mn-ea"/>
                <a:cs typeface="+mn-cs"/>
                <a:sym typeface="Teko Bold"/>
              </a:defRPr>
            </a:lvl9pPr>
          </a:lstStyle>
          <a:p>
            <a:pPr algn="ctr" hangingPunct="1"/>
            <a:r>
              <a:rPr lang="en-US" sz="2000" dirty="0"/>
              <a:t>Dylan Umino Oliver Hoffman Hussain </a:t>
            </a:r>
            <a:r>
              <a:rPr lang="en-US" sz="2000" dirty="0" err="1"/>
              <a:t>Alramadhan</a:t>
            </a:r>
            <a:endParaRPr lang="en-US" sz="2000" dirty="0"/>
          </a:p>
          <a:p>
            <a:pPr algn="ctr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572581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1AD71-5AAD-96EF-E409-54F2F3FD6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this Converter?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4CD770-4489-3DB7-EC2A-460287D21ED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5342" y="1059561"/>
            <a:ext cx="8034814" cy="2746449"/>
          </a:xfrm>
        </p:spPr>
        <p:txBody>
          <a:bodyPr>
            <a:normAutofit/>
          </a:bodyPr>
          <a:lstStyle/>
          <a:p>
            <a:r>
              <a:rPr lang="en-US" dirty="0"/>
              <a:t>In a low power integrated RF 802.11 OFDM Transceiver, we need dense digital logic for Digital Signal Processing of Baseband signals, as well as various analog blocks</a:t>
            </a:r>
          </a:p>
          <a:p>
            <a:r>
              <a:rPr lang="en-US" dirty="0"/>
              <a:t>A high efficiency is needed to support heavy signal processing</a:t>
            </a:r>
            <a:br>
              <a:rPr lang="en-US" dirty="0"/>
            </a:br>
            <a:r>
              <a:rPr lang="en-US" dirty="0"/>
              <a:t>such as FFTs, Channel Inversion, and </a:t>
            </a:r>
            <a:r>
              <a:rPr lang="en-US" dirty="0" err="1"/>
              <a:t>Beamsteering</a:t>
            </a:r>
            <a:endParaRPr lang="en-US" dirty="0"/>
          </a:p>
          <a:p>
            <a:r>
              <a:rPr lang="en-US" dirty="0"/>
              <a:t>A buck converter to drop the battery voltage efficiently for </a:t>
            </a:r>
            <a:br>
              <a:rPr lang="en-US" dirty="0"/>
            </a:br>
            <a:r>
              <a:rPr lang="en-US" dirty="0"/>
              <a:t>lower switching power in the digital blocks. </a:t>
            </a:r>
          </a:p>
          <a:p>
            <a:r>
              <a:rPr lang="en-US" dirty="0"/>
              <a:t>The transceiver is designed on this TSMC 65nm process which </a:t>
            </a:r>
            <a:br>
              <a:rPr lang="en-US" dirty="0"/>
            </a:br>
            <a:r>
              <a:rPr lang="en-US" dirty="0"/>
              <a:t>supports transistors with </a:t>
            </a:r>
            <a:r>
              <a:rPr lang="en-US" dirty="0" err="1"/>
              <a:t>salicide</a:t>
            </a:r>
            <a:r>
              <a:rPr lang="en-US" dirty="0"/>
              <a:t>, and a buck converter can </a:t>
            </a:r>
            <a:br>
              <a:rPr lang="en-US" dirty="0"/>
            </a:br>
            <a:r>
              <a:rPr lang="en-US" dirty="0"/>
              <a:t>be easily integrated onto the same Die.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3F3426-B612-260D-64BF-E9C2C3D77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274" y="1684042"/>
            <a:ext cx="2978166" cy="2974086"/>
          </a:xfrm>
          <a:prstGeom prst="rect">
            <a:avLst/>
          </a:prstGeom>
        </p:spPr>
      </p:pic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7AD77829-321B-C603-B585-5D282303A6F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57199" y="4847825"/>
            <a:ext cx="1625335" cy="219102"/>
          </a:xfrm>
        </p:spPr>
        <p:txBody>
          <a:bodyPr/>
          <a:lstStyle/>
          <a:p>
            <a:r>
              <a:rPr lang="en-US" dirty="0"/>
              <a:t>Buck Converter for RF Transceiver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447A2FFB-10E9-CA7B-5E35-758A69C1A1B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82880" y="4847825"/>
            <a:ext cx="274319" cy="219101"/>
          </a:xfrm>
        </p:spPr>
        <p:txBody>
          <a:bodyPr/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09041830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9DB0B-3566-B046-8B44-5ACA3A994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DCBCE-2CF0-0708-AE80-27AF82CA7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Specifications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070B67A-20F1-5A69-4455-2FA8BC5FB88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1300163"/>
            <a:ext cx="5206335" cy="3142576"/>
          </a:xfrm>
        </p:spPr>
        <p:txBody>
          <a:bodyPr/>
          <a:lstStyle/>
          <a:p>
            <a:r>
              <a:rPr lang="en-US" dirty="0"/>
              <a:t>Our transistors can generally handle ~2V before breakdown, so this is an intermediate stage in conversion</a:t>
            </a:r>
          </a:p>
          <a:p>
            <a:r>
              <a:rPr lang="en-US" dirty="0"/>
              <a:t>Output voltage is 0.8V, as that is the nominal rail voltage of our digital logic</a:t>
            </a:r>
          </a:p>
          <a:p>
            <a:r>
              <a:rPr lang="en-US" dirty="0"/>
              <a:t>Load current and transients are required, as the digital logic has Dynamic Voltage and Frequency Scaling (DVFS), as different uplink and downlink situations require different throughput. </a:t>
            </a:r>
          </a:p>
          <a:p>
            <a:r>
              <a:rPr lang="en-US" dirty="0"/>
              <a:t>For battery life and thermal management, &gt;80% efficiency, and low loss is needed for our design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5F6D500-99B5-601C-0CAD-462E574C5F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1703718"/>
              </p:ext>
            </p:extLst>
          </p:nvPr>
        </p:nvGraphicFramePr>
        <p:xfrm>
          <a:off x="5955567" y="841059"/>
          <a:ext cx="3075928" cy="3965196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555917">
                  <a:extLst>
                    <a:ext uri="{9D8B030D-6E8A-4147-A177-3AD203B41FA5}">
                      <a16:colId xmlns:a16="http://schemas.microsoft.com/office/drawing/2014/main" val="3646304626"/>
                    </a:ext>
                  </a:extLst>
                </a:gridCol>
                <a:gridCol w="1520011">
                  <a:extLst>
                    <a:ext uri="{9D8B030D-6E8A-4147-A177-3AD203B41FA5}">
                      <a16:colId xmlns:a16="http://schemas.microsoft.com/office/drawing/2014/main" val="1345914321"/>
                    </a:ext>
                  </a:extLst>
                </a:gridCol>
              </a:tblGrid>
              <a:tr h="350843">
                <a:tc>
                  <a:txBody>
                    <a:bodyPr/>
                    <a:lstStyle/>
                    <a:p>
                      <a:r>
                        <a:rPr lang="en-US" sz="1100" dirty="0"/>
                        <a:t>Specifications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Target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742707"/>
                  </a:ext>
                </a:extLst>
              </a:tr>
              <a:tr h="367910">
                <a:tc>
                  <a:txBody>
                    <a:bodyPr/>
                    <a:lstStyle/>
                    <a:p>
                      <a:r>
                        <a:rPr lang="en-US" sz="1100" dirty="0"/>
                        <a:t>Input Voltage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1.6V-2V</a:t>
                      </a:r>
                    </a:p>
                    <a:p>
                      <a:r>
                        <a:rPr lang="en-US" sz="1100" dirty="0"/>
                        <a:t>1.8V Nominal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0581650"/>
                  </a:ext>
                </a:extLst>
              </a:tr>
              <a:tr h="367910">
                <a:tc>
                  <a:txBody>
                    <a:bodyPr/>
                    <a:lstStyle/>
                    <a:p>
                      <a:r>
                        <a:rPr lang="en-US" sz="1100" dirty="0"/>
                        <a:t>Output Voltage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0.6V-1.2V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0.8V Nominal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017010"/>
                  </a:ext>
                </a:extLst>
              </a:tr>
              <a:tr h="367910">
                <a:tc>
                  <a:txBody>
                    <a:bodyPr/>
                    <a:lstStyle/>
                    <a:p>
                      <a:r>
                        <a:rPr lang="en-US" sz="1100" dirty="0"/>
                        <a:t>Load 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0.2A-2A</a:t>
                      </a:r>
                    </a:p>
                    <a:p>
                      <a:r>
                        <a:rPr lang="en-US" sz="1100" dirty="0"/>
                        <a:t>1A Nominal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7206884"/>
                  </a:ext>
                </a:extLst>
              </a:tr>
              <a:tr h="357714">
                <a:tc>
                  <a:txBody>
                    <a:bodyPr/>
                    <a:lstStyle/>
                    <a:p>
                      <a:r>
                        <a:rPr lang="en-US" sz="1100" dirty="0"/>
                        <a:t>Output Voltage Ripple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&lt; 50mV </a:t>
                      </a:r>
                    </a:p>
                    <a:p>
                      <a:r>
                        <a:rPr lang="en-US" sz="1100" dirty="0"/>
                        <a:t>30mV Nominal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1209781"/>
                  </a:ext>
                </a:extLst>
              </a:tr>
              <a:tr h="512446">
                <a:tc>
                  <a:txBody>
                    <a:bodyPr/>
                    <a:lstStyle/>
                    <a:p>
                      <a:r>
                        <a:rPr lang="en-US" sz="1100" dirty="0"/>
                        <a:t>Droop at </a:t>
                      </a:r>
                      <a:r>
                        <a:rPr lang="en-US" sz="1100" dirty="0" err="1"/>
                        <a:t>Vout</a:t>
                      </a:r>
                      <a:r>
                        <a:rPr lang="en-US" sz="1100" dirty="0"/>
                        <a:t> in load transient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&lt; 50 mV</a:t>
                      </a:r>
                    </a:p>
                    <a:p>
                      <a:r>
                        <a:rPr lang="en-US" sz="1100" dirty="0"/>
                        <a:t>For a current transient of 0.5A in 0.5us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940784"/>
                  </a:ext>
                </a:extLst>
              </a:tr>
              <a:tr h="331685">
                <a:tc>
                  <a:txBody>
                    <a:bodyPr/>
                    <a:lstStyle/>
                    <a:p>
                      <a:r>
                        <a:rPr lang="en-US" sz="1100" dirty="0"/>
                        <a:t>Droop at </a:t>
                      </a:r>
                      <a:r>
                        <a:rPr lang="en-US" sz="1100" dirty="0" err="1"/>
                        <a:t>Vout</a:t>
                      </a:r>
                      <a:r>
                        <a:rPr lang="en-US" sz="1100" dirty="0"/>
                        <a:t> in line transient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&lt; 50 mV</a:t>
                      </a:r>
                    </a:p>
                    <a:p>
                      <a:r>
                        <a:rPr lang="en-US" sz="1100" dirty="0"/>
                        <a:t>For a Vin transient of  1.7V to 1.9V in 1us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933373"/>
                  </a:ext>
                </a:extLst>
              </a:tr>
              <a:tr h="367910">
                <a:tc>
                  <a:txBody>
                    <a:bodyPr/>
                    <a:lstStyle/>
                    <a:p>
                      <a:r>
                        <a:rPr lang="en-US" sz="1100" dirty="0"/>
                        <a:t>Efficiency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&gt; 80% Nominal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1659259"/>
                  </a:ext>
                </a:extLst>
              </a:tr>
              <a:tr h="350843">
                <a:tc>
                  <a:txBody>
                    <a:bodyPr/>
                    <a:lstStyle/>
                    <a:p>
                      <a:r>
                        <a:rPr lang="en-US" sz="1100" dirty="0"/>
                        <a:t>FOM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&lt; 0.5 W*mm^2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063470"/>
                  </a:ext>
                </a:extLst>
              </a:tr>
            </a:tbl>
          </a:graphicData>
        </a:graphic>
      </p:graphicFrame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38BED412-1076-18BB-F3A4-52048953506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57199" y="4847825"/>
            <a:ext cx="1625335" cy="219102"/>
          </a:xfrm>
        </p:spPr>
        <p:txBody>
          <a:bodyPr/>
          <a:lstStyle/>
          <a:p>
            <a:r>
              <a:rPr lang="en-US" dirty="0"/>
              <a:t>Buck Converter for RF Transceiver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494B7CA0-5B6E-47B6-2769-DC50A8063D2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82880" y="4847825"/>
            <a:ext cx="274319" cy="219101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26272620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22CD1-CC82-8071-22A0-97A331E8A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Topology Selection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BB2D10-59FF-203A-6BA5-C9440625B5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199" y="1059561"/>
            <a:ext cx="8229600" cy="3128962"/>
          </a:xfrm>
        </p:spPr>
        <p:txBody>
          <a:bodyPr/>
          <a:lstStyle/>
          <a:p>
            <a:r>
              <a:rPr lang="en-US" dirty="0"/>
              <a:t>Two candidate topologies are the classic </a:t>
            </a:r>
            <a:r>
              <a:rPr lang="en-US" b="1" dirty="0"/>
              <a:t>Buck Converter </a:t>
            </a:r>
            <a:r>
              <a:rPr lang="en-US" dirty="0"/>
              <a:t>and the </a:t>
            </a:r>
            <a:r>
              <a:rPr lang="en-US" b="1" dirty="0"/>
              <a:t>3 Level Buck Converter</a:t>
            </a:r>
            <a:endParaRPr lang="en-US" dirty="0"/>
          </a:p>
          <a:p>
            <a:r>
              <a:rPr lang="en-US" dirty="0"/>
              <a:t>For simplicity and to decrease the time to market, we selected the </a:t>
            </a:r>
            <a:r>
              <a:rPr lang="en-US" b="1" dirty="0"/>
              <a:t>Buck Converter </a:t>
            </a:r>
            <a:r>
              <a:rPr lang="en-US" dirty="0"/>
              <a:t>although the </a:t>
            </a:r>
            <a:r>
              <a:rPr lang="en-US" b="1" dirty="0"/>
              <a:t>3 Level</a:t>
            </a:r>
            <a:r>
              <a:rPr lang="en-US" dirty="0"/>
              <a:t> is attractive for its higher efficiency. 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749DE-817A-A78D-280A-BC25821FEE0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57199" y="4847825"/>
            <a:ext cx="1625335" cy="219102"/>
          </a:xfrm>
        </p:spPr>
        <p:txBody>
          <a:bodyPr/>
          <a:lstStyle/>
          <a:p>
            <a:r>
              <a:rPr lang="en-US" dirty="0"/>
              <a:t>Buck Converter for RF Transceiver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AB121C-BBC3-5326-57E3-EA179548715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F3E5094-4B40-5212-C390-595E724ABCCE}"/>
              </a:ext>
            </a:extLst>
          </p:cNvPr>
          <p:cNvSpPr/>
          <p:nvPr/>
        </p:nvSpPr>
        <p:spPr>
          <a:xfrm>
            <a:off x="1350057" y="2185714"/>
            <a:ext cx="1608576" cy="456684"/>
          </a:xfrm>
          <a:prstGeom prst="roundRect">
            <a:avLst>
              <a:gd name="adj" fmla="val 29206"/>
            </a:avLst>
          </a:prstGeom>
          <a:solidFill>
            <a:schemeClr val="accent3">
              <a:lumMod val="50000"/>
              <a:lumOff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i="0" u="none" strike="noStrike" normalizeH="0" baseline="0" dirty="0">
                <a:solidFill>
                  <a:srgbClr val="FFFFFF"/>
                </a:solidFill>
                <a:uFillTx/>
                <a:latin typeface="Source Sans 3 Medium"/>
                <a:ea typeface="Source Sans 3 Medium"/>
                <a:cs typeface="Source Sans 3 Medium"/>
                <a:sym typeface="Source Sans 3 Medium"/>
              </a:rPr>
              <a:t>Buck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DB2614A-A62C-6F50-2D22-241AD44DA65A}"/>
              </a:ext>
            </a:extLst>
          </p:cNvPr>
          <p:cNvSpPr/>
          <p:nvPr/>
        </p:nvSpPr>
        <p:spPr>
          <a:xfrm>
            <a:off x="5951713" y="2167358"/>
            <a:ext cx="1608576" cy="456684"/>
          </a:xfrm>
          <a:prstGeom prst="roundRect">
            <a:avLst>
              <a:gd name="adj" fmla="val 29206"/>
            </a:avLst>
          </a:prstGeom>
          <a:solidFill>
            <a:schemeClr val="accent3">
              <a:lumMod val="50000"/>
              <a:lumOff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i="0" u="none" strike="noStrike" normalizeH="0" baseline="0" dirty="0">
                <a:solidFill>
                  <a:srgbClr val="FFFFFF"/>
                </a:solidFill>
                <a:uFillTx/>
                <a:latin typeface="Source Sans 3 Medium"/>
                <a:ea typeface="Source Sans 3 Medium"/>
                <a:cs typeface="Source Sans 3 Medium"/>
                <a:sym typeface="Source Sans 3 Medium"/>
              </a:rPr>
              <a:t>3-Level Buck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F407B74-24B3-D2F5-436B-447C9490E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133" y="2824586"/>
            <a:ext cx="1222115" cy="176145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D4B88A8-B1FF-04CC-28D9-473C2EA3A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1713" y="2690538"/>
            <a:ext cx="1672401" cy="1953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65405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B2F94-1299-A6B5-FAA1-5FBF6E767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8ABAD-CB97-37C0-AE60-EE69A370A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Diagram of Buck Converter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48F08C-6E39-182E-EAF8-6CAA67E0E2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199" y="1059561"/>
            <a:ext cx="8229600" cy="312896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Several sub-blocks with considerations needed to regulate the buck converter</a:t>
            </a:r>
          </a:p>
          <a:p>
            <a:r>
              <a:rPr lang="en-US" dirty="0"/>
              <a:t>Error Amplifier</a:t>
            </a:r>
          </a:p>
          <a:p>
            <a:pPr lvl="1"/>
            <a:r>
              <a:rPr lang="en-US" dirty="0"/>
              <a:t>Unity Gain Bandwidth</a:t>
            </a:r>
          </a:p>
          <a:p>
            <a:pPr lvl="1"/>
            <a:r>
              <a:rPr lang="en-US" dirty="0"/>
              <a:t>Input/Output Common Mode</a:t>
            </a:r>
          </a:p>
          <a:p>
            <a:r>
              <a:rPr lang="en-US" dirty="0"/>
              <a:t>Control Logic</a:t>
            </a:r>
          </a:p>
          <a:p>
            <a:pPr lvl="1"/>
            <a:r>
              <a:rPr lang="en-US" dirty="0"/>
              <a:t>Timing Switch On/Off times</a:t>
            </a:r>
          </a:p>
          <a:p>
            <a:r>
              <a:rPr lang="en-US" dirty="0"/>
              <a:t>PWM Generation </a:t>
            </a:r>
          </a:p>
          <a:p>
            <a:pPr lvl="1"/>
            <a:r>
              <a:rPr lang="en-US" dirty="0"/>
              <a:t>Comparator </a:t>
            </a:r>
          </a:p>
          <a:p>
            <a:pPr lvl="1"/>
            <a:r>
              <a:rPr lang="en-US" dirty="0"/>
              <a:t>Ramp Generation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B75B4A-3CAF-D6C8-E2DC-FE24AE48033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57199" y="4847825"/>
            <a:ext cx="1625335" cy="219102"/>
          </a:xfrm>
        </p:spPr>
        <p:txBody>
          <a:bodyPr/>
          <a:lstStyle/>
          <a:p>
            <a:r>
              <a:rPr lang="en-US" dirty="0"/>
              <a:t>Buck Converter for RF Transceiver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9DE35D-045B-17C8-F198-1FEBCC021E8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E6A9D7B-EBA5-3E79-1059-D62F632C9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9262" y="1473152"/>
            <a:ext cx="3903849" cy="2867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77082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8D041-744D-71EA-6527-8C9B843F7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E4D46-9430-2487-77A6-FA1A68936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 – Switches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0FD46A-605C-BE07-8F27-D6E774C7D2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1059561"/>
            <a:ext cx="5111088" cy="143798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Transistor Selection</a:t>
            </a:r>
          </a:p>
          <a:p>
            <a:pPr lvl="1"/>
            <a:r>
              <a:rPr lang="en-US" dirty="0"/>
              <a:t>We explored multiple types of MOSFET devices to decide which would be best suited to our purposes (</a:t>
            </a:r>
            <a:r>
              <a:rPr lang="en-US" dirty="0" err="1"/>
              <a:t>nch</a:t>
            </a:r>
            <a:r>
              <a:rPr lang="en-US" dirty="0"/>
              <a:t>, nch_25, </a:t>
            </a:r>
            <a:r>
              <a:rPr lang="en-US" dirty="0" err="1"/>
              <a:t>nch_lvt</a:t>
            </a:r>
            <a:r>
              <a:rPr lang="en-US" dirty="0"/>
              <a:t>, and nch_na25). We selected the </a:t>
            </a:r>
            <a:r>
              <a:rPr lang="en-US" dirty="0" err="1"/>
              <a:t>nch_lvt</a:t>
            </a:r>
            <a:r>
              <a:rPr lang="en-US" dirty="0"/>
              <a:t> device for its low on resistance, which will allow for a smaller size and lower capacitance</a:t>
            </a:r>
          </a:p>
          <a:p>
            <a:pPr marL="0" indent="0">
              <a:buNone/>
            </a:pPr>
            <a:endParaRPr lang="en-US" u="sng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2C93B-0BD4-137D-DA4F-279114388EB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57199" y="4847825"/>
            <a:ext cx="1625335" cy="219102"/>
          </a:xfrm>
        </p:spPr>
        <p:txBody>
          <a:bodyPr/>
          <a:lstStyle/>
          <a:p>
            <a:r>
              <a:rPr lang="en-US" dirty="0"/>
              <a:t>Buck Converter for RF Transceiver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685BAE-4DF6-4BCE-8B3C-F845441048E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7BB8EBC-B003-80EF-E762-78C5B4AD9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9" y="2560565"/>
            <a:ext cx="2525447" cy="21527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B749EE9-F9ED-1F1B-06B0-9D51BB9BC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2744" y="2560565"/>
            <a:ext cx="2386661" cy="215276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427BD31-8582-7FC2-9668-3CD2925B6A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9775" y="2560565"/>
            <a:ext cx="3422996" cy="226542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D4D0CD6-276E-EB9D-1893-CE8FFB10E8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5435" y="730948"/>
            <a:ext cx="2737336" cy="181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36894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3357B-2B86-1C7F-40D0-08E47D5F0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ED12F-18CF-7B17-546A-32A2D41E9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 – Switches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849339-68FD-D29E-272E-C8B6E7CCF26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1059560"/>
            <a:ext cx="5111088" cy="3519264"/>
          </a:xfrm>
        </p:spPr>
        <p:txBody>
          <a:bodyPr>
            <a:normAutofit/>
          </a:bodyPr>
          <a:lstStyle/>
          <a:p>
            <a:r>
              <a:rPr lang="en-US" dirty="0"/>
              <a:t>Loss Analysis: Transistor Sizing</a:t>
            </a:r>
          </a:p>
          <a:p>
            <a:pPr lvl="1"/>
            <a:r>
              <a:rPr lang="en-US" dirty="0"/>
              <a:t>Using Cadence simulation results we calculated total loss (switching + driving + conduction) for various widths to choose the lowest loss.</a:t>
            </a:r>
          </a:p>
          <a:p>
            <a:pPr lvl="1"/>
            <a:r>
              <a:rPr lang="en-US" dirty="0"/>
              <a:t>For our preliminary sizing we simply chose the lowest loss option, which we may revise later to afford more area to components such as the inductor.</a:t>
            </a:r>
          </a:p>
          <a:p>
            <a:endParaRPr lang="en-US" u="sng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BCEA79-3D04-D2C3-0C99-2C64D12890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57199" y="4847825"/>
            <a:ext cx="1625335" cy="219102"/>
          </a:xfrm>
        </p:spPr>
        <p:txBody>
          <a:bodyPr/>
          <a:lstStyle/>
          <a:p>
            <a:r>
              <a:rPr lang="en-US" dirty="0"/>
              <a:t>Buck Converter for RF Transceiver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2E1634-0F7B-B5B4-F48E-B199EBAB56C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r>
              <a:rPr lang="en-US" dirty="0"/>
              <a:t>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868B71-F4A9-F8BE-EC90-03828D87A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9209" y="751421"/>
            <a:ext cx="2737591" cy="20531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9AD44A8-F309-9EC4-6432-04963662FB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9208" y="2904181"/>
            <a:ext cx="2737591" cy="20531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A17DC2-8E12-23E4-79A4-E6DE2407F8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8529" y="3218059"/>
            <a:ext cx="2433471" cy="1495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622029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B4DB5-A063-5960-D046-F7CCF571B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EF1A-6989-F4B9-6A43-A728401AE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 – Passives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3A291-1AD2-57E6-063F-48B9FADE6C2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1059561"/>
            <a:ext cx="4844956" cy="3225836"/>
          </a:xfrm>
        </p:spPr>
        <p:txBody>
          <a:bodyPr>
            <a:normAutofit/>
          </a:bodyPr>
          <a:lstStyle/>
          <a:p>
            <a:r>
              <a:rPr lang="en-US" dirty="0"/>
              <a:t>Inductor Modeling</a:t>
            </a:r>
          </a:p>
          <a:p>
            <a:pPr lvl="1"/>
            <a:r>
              <a:rPr lang="en-US" dirty="0"/>
              <a:t>We plotted current ripple vs inductance at various frequencies and chose a limit that guarantees that the converter stays in CCM.</a:t>
            </a:r>
          </a:p>
          <a:p>
            <a:r>
              <a:rPr lang="en-US" dirty="0"/>
              <a:t>Frequency Selection</a:t>
            </a:r>
          </a:p>
          <a:p>
            <a:pPr lvl="1"/>
            <a:r>
              <a:rPr lang="en-US" dirty="0"/>
              <a:t>We found that a higher switching frequency is generally better for the inductor size as well as optimal switch size. We chose to start by assuming a tentative but fast switching frequency of 80MHZ.</a:t>
            </a:r>
          </a:p>
          <a:p>
            <a:r>
              <a:rPr lang="en-US" dirty="0"/>
              <a:t>We chose a preliminary inductor size of 14nH	</a:t>
            </a:r>
          </a:p>
          <a:p>
            <a:endParaRPr lang="en-US" dirty="0"/>
          </a:p>
          <a:p>
            <a:endParaRPr lang="en-US" u="sng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EE524B-3AA7-8AA2-73B9-A987A6216FB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57199" y="4847825"/>
            <a:ext cx="1625335" cy="219102"/>
          </a:xfrm>
        </p:spPr>
        <p:txBody>
          <a:bodyPr/>
          <a:lstStyle/>
          <a:p>
            <a:r>
              <a:rPr lang="en-US" dirty="0"/>
              <a:t>Buck Converter for RF Transceiver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3836D0-AA10-F2DE-C2CD-37FB4A0DC0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r>
              <a:rPr lang="en-US" dirty="0"/>
              <a:t>7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9B38AC-E5A6-F0EA-004E-522C15FCB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4921" y="986215"/>
            <a:ext cx="4130299" cy="3097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62306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9C532-BE2F-8D02-D35E-77F83AD37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CFD7C-6E6C-8698-6E13-E642C5B4B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Macro Model of Circuit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136247-AC6D-1B9B-A461-12EEB774DD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198" y="1059561"/>
            <a:ext cx="5575111" cy="3341842"/>
          </a:xfrm>
        </p:spPr>
        <p:txBody>
          <a:bodyPr>
            <a:normAutofit/>
          </a:bodyPr>
          <a:lstStyle/>
          <a:p>
            <a:r>
              <a:rPr lang="en-US" dirty="0"/>
              <a:t>Inductor area</a:t>
            </a:r>
          </a:p>
          <a:p>
            <a:pPr lvl="1"/>
            <a:r>
              <a:rPr lang="en-US" dirty="0"/>
              <a:t>We plotted the inductor loss vs area to estimate our losses to inductor resistance and approximate the size required.</a:t>
            </a:r>
          </a:p>
          <a:p>
            <a:r>
              <a:rPr lang="en-US" dirty="0"/>
              <a:t>Capacitor sizing</a:t>
            </a:r>
          </a:p>
          <a:p>
            <a:pPr lvl="1"/>
            <a:r>
              <a:rPr lang="en-US" dirty="0"/>
              <a:t>The capacitor size is determined primarily by the output voltage ripple requirement.</a:t>
            </a:r>
          </a:p>
          <a:p>
            <a:pPr lvl="1"/>
            <a:r>
              <a:rPr lang="en-US" dirty="0"/>
              <a:t>We used our determined inductor current, output ripple specification, and our chosen switching frequency to determine our preliminary capacitor size to be 20nF</a:t>
            </a:r>
          </a:p>
          <a:p>
            <a:endParaRPr lang="en-US" dirty="0"/>
          </a:p>
          <a:p>
            <a:endParaRPr lang="en-US" dirty="0"/>
          </a:p>
          <a:p>
            <a:endParaRPr lang="en-US" u="sng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164F75-6178-DFC6-C2B8-0A4728440D0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57199" y="4847825"/>
            <a:ext cx="1625335" cy="219102"/>
          </a:xfrm>
        </p:spPr>
        <p:txBody>
          <a:bodyPr/>
          <a:lstStyle/>
          <a:p>
            <a:r>
              <a:rPr lang="en-US" dirty="0"/>
              <a:t>Buck Converter for RF Transceiver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D5C87C-F33A-1CFD-9712-E0782595373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r>
              <a:rPr lang="en-US" dirty="0"/>
              <a:t>8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61092D-D2E6-B83A-C5BC-80F0D543C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891" y="3284881"/>
            <a:ext cx="2400635" cy="12765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B1B63BC-D1C0-3E0A-F146-2A8E5EFAF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7572" y="752368"/>
            <a:ext cx="3200353" cy="240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536465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6E6AE-595F-5B9E-F4AF-23006858C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74650-7FC9-8ECA-06B4-BC71B8F7C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Macro Model of Circuit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DE0B7-182A-B344-6D4E-7C70353270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199" y="1253274"/>
            <a:ext cx="2817779" cy="2636951"/>
          </a:xfrm>
        </p:spPr>
        <p:txBody>
          <a:bodyPr>
            <a:normAutofit/>
          </a:bodyPr>
          <a:lstStyle/>
          <a:p>
            <a:r>
              <a:rPr lang="en-US" dirty="0"/>
              <a:t>Switches with Ron of ~46mOhms</a:t>
            </a:r>
          </a:p>
          <a:p>
            <a:r>
              <a:rPr lang="en-US" dirty="0"/>
              <a:t>Inductor with DCR ~100mOhms </a:t>
            </a:r>
          </a:p>
          <a:p>
            <a:r>
              <a:rPr lang="en-US" dirty="0"/>
              <a:t>Single Pole Operational Amplifier</a:t>
            </a:r>
          </a:p>
          <a:p>
            <a:r>
              <a:rPr lang="en-US" dirty="0"/>
              <a:t>Ideal Gate Driver + Ramp</a:t>
            </a:r>
            <a:br>
              <a:rPr lang="en-US" dirty="0"/>
            </a:br>
            <a:r>
              <a:rPr lang="en-US" dirty="0"/>
              <a:t>Generation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E5FDBA-C413-8E47-ACBB-0B5E1ACC9F9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57199" y="4847825"/>
            <a:ext cx="1625335" cy="219102"/>
          </a:xfrm>
        </p:spPr>
        <p:txBody>
          <a:bodyPr/>
          <a:lstStyle/>
          <a:p>
            <a:r>
              <a:rPr lang="en-US" dirty="0"/>
              <a:t>Buck Converter for RF Transceiver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0B8D02-2774-F9BA-8BF9-5E9A078DD27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r>
              <a:rPr lang="en-US" dirty="0"/>
              <a:t>9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B8E9822-1F70-4ED8-7AE5-C60FACC7B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2622" y="899295"/>
            <a:ext cx="5224178" cy="363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726111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DEDD3-C7D0-EFB0-8610-F2E9581B5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4DA7E-0047-8CA2-DD58-779E0B15C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Macro Model of Circuit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26A467-4D25-7133-64FC-9165B5E5D82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9001" y="998101"/>
            <a:ext cx="1878412" cy="238347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200" dirty="0"/>
              <a:t>Output Voltage</a:t>
            </a:r>
            <a:br>
              <a:rPr lang="en-US" sz="1200" dirty="0"/>
            </a:b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Inductor Current</a:t>
            </a:r>
            <a:br>
              <a:rPr lang="en-US" sz="1200" dirty="0"/>
            </a:b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Output Current</a:t>
            </a:r>
            <a:br>
              <a:rPr lang="en-US" sz="1200" dirty="0"/>
            </a:b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Switch Voltage</a:t>
            </a:r>
          </a:p>
          <a:p>
            <a:endParaRPr lang="en-US" u="sng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9F1B6E-A1A8-7E71-8208-48B54F768BC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57199" y="4847825"/>
            <a:ext cx="1625335" cy="219102"/>
          </a:xfrm>
        </p:spPr>
        <p:txBody>
          <a:bodyPr/>
          <a:lstStyle/>
          <a:p>
            <a:r>
              <a:rPr lang="en-US" dirty="0"/>
              <a:t>Buck Converter for RF Transceiver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B08E24-21F4-F9EA-8A80-493096CAF9B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r>
              <a:rPr lang="en-US" dirty="0"/>
              <a:t>10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38993E-3E83-D8F6-4DBF-58C533C6C2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369"/>
          <a:stretch>
            <a:fillRect/>
          </a:stretch>
        </p:blipFill>
        <p:spPr>
          <a:xfrm>
            <a:off x="1195152" y="727272"/>
            <a:ext cx="6439710" cy="2986597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DCEF907-74F7-9CEB-97C4-F6284373E722}"/>
              </a:ext>
            </a:extLst>
          </p:cNvPr>
          <p:cNvSpPr txBox="1">
            <a:spLocks/>
          </p:cNvSpPr>
          <p:nvPr/>
        </p:nvSpPr>
        <p:spPr>
          <a:xfrm>
            <a:off x="6592705" y="3876353"/>
            <a:ext cx="2368415" cy="971472"/>
          </a:xfrm>
          <a:prstGeom prst="rect">
            <a:avLst/>
          </a:prstGeom>
        </p:spPr>
        <p:txBody>
          <a:bodyPr vert="horz" lIns="0" tIns="0" rIns="0" bIns="0" rtlCol="0">
            <a:normAutofit fontScale="62500" lnSpcReduction="20000"/>
          </a:bodyPr>
          <a:lstStyle>
            <a:lvl1pPr marL="228600" marR="0" indent="-228600" algn="l" defTabSz="914377" rtl="0" latinLnBrk="0">
              <a:lnSpc>
                <a:spcPct val="100000"/>
              </a:lnSpc>
              <a:spcBef>
                <a:spcPts val="13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 i="0" u="none" strike="noStrike" cap="none" spc="0" baseline="0">
                <a:solidFill>
                  <a:schemeClr val="tx1"/>
                </a:solidFill>
                <a:uFillTx/>
                <a:latin typeface="Calibri" panose="020F0502020204030204" pitchFamily="34" charset="0"/>
                <a:ea typeface="+mn-ea"/>
                <a:cs typeface="+mn-cs"/>
                <a:sym typeface="Teko Bold"/>
              </a:defRPr>
            </a:lvl1pPr>
            <a:lvl2pPr marL="457200" marR="0" indent="-228600" algn="l" defTabSz="914377" rtl="0" latinLnBrk="0">
              <a:lnSpc>
                <a:spcPct val="100000"/>
              </a:lnSpc>
              <a:spcBef>
                <a:spcPts val="13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 i="0" u="none" strike="noStrike" cap="none" spc="0" baseline="0">
                <a:solidFill>
                  <a:schemeClr val="tx1"/>
                </a:solidFill>
                <a:uFillTx/>
                <a:latin typeface="Calibri" panose="020F0502020204030204" pitchFamily="34" charset="0"/>
                <a:ea typeface="+mn-ea"/>
                <a:cs typeface="+mn-cs"/>
                <a:sym typeface="Teko Bold"/>
              </a:defRPr>
            </a:lvl2pPr>
            <a:lvl3pPr marL="685800" marR="0" indent="-228600" algn="l" defTabSz="914377" rtl="0" latinLnBrk="0">
              <a:lnSpc>
                <a:spcPct val="100000"/>
              </a:lnSpc>
              <a:spcBef>
                <a:spcPts val="13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 i="0" u="none" strike="noStrike" cap="none" spc="0" baseline="0">
                <a:solidFill>
                  <a:schemeClr val="tx1"/>
                </a:solidFill>
                <a:uFillTx/>
                <a:latin typeface="Calibri" panose="020F0502020204030204" pitchFamily="34" charset="0"/>
                <a:ea typeface="+mn-ea"/>
                <a:cs typeface="+mn-cs"/>
                <a:sym typeface="Teko Bold"/>
              </a:defRPr>
            </a:lvl3pPr>
            <a:lvl4pPr marL="914400" marR="0" indent="-228600" algn="l" defTabSz="914377" rtl="0" latinLnBrk="0">
              <a:lnSpc>
                <a:spcPct val="100000"/>
              </a:lnSpc>
              <a:spcBef>
                <a:spcPts val="13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 i="0" u="none" strike="noStrike" cap="none" spc="0" baseline="0">
                <a:solidFill>
                  <a:schemeClr val="tx1"/>
                </a:solidFill>
                <a:uFillTx/>
                <a:latin typeface="Calibri" panose="020F0502020204030204" pitchFamily="34" charset="0"/>
                <a:ea typeface="+mn-ea"/>
                <a:cs typeface="+mn-cs"/>
                <a:sym typeface="Teko Bold"/>
              </a:defRPr>
            </a:lvl4pPr>
            <a:lvl5pPr marL="1143000" marR="0" indent="-228600" algn="l" defTabSz="914377" rtl="0" latinLnBrk="0">
              <a:lnSpc>
                <a:spcPct val="100000"/>
              </a:lnSpc>
              <a:spcBef>
                <a:spcPts val="13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 i="0" u="none" strike="noStrike" cap="none" spc="0" baseline="0">
                <a:solidFill>
                  <a:schemeClr val="tx1"/>
                </a:solidFill>
                <a:uFillTx/>
                <a:latin typeface="Calibri" panose="020F0502020204030204" pitchFamily="34" charset="0"/>
                <a:ea typeface="+mn-ea"/>
                <a:cs typeface="+mn-cs"/>
                <a:sym typeface="Teko Bold"/>
              </a:defRPr>
            </a:lvl5pPr>
            <a:lvl6pPr marL="914400" marR="0" indent="-228600" algn="l" defTabSz="914377" rtl="0" latinLnBrk="0">
              <a:lnSpc>
                <a:spcPct val="90000"/>
              </a:lnSpc>
              <a:spcBef>
                <a:spcPts val="13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750" b="0" i="0" u="none" strike="noStrike" cap="none" spc="0" baseline="0">
                <a:solidFill>
                  <a:schemeClr val="tx1"/>
                </a:solidFill>
                <a:uFillTx/>
                <a:latin typeface="Source Sans 3" panose="020B0303030403020204" pitchFamily="34" charset="0"/>
                <a:ea typeface="+mn-ea"/>
                <a:cs typeface="+mn-cs"/>
                <a:sym typeface="Teko Bold"/>
              </a:defRPr>
            </a:lvl6pPr>
            <a:lvl7pPr marL="457200" marR="0" indent="-228600" algn="l" defTabSz="914377" rtl="0" latinLnBrk="0">
              <a:lnSpc>
                <a:spcPct val="90000"/>
              </a:lnSpc>
              <a:spcBef>
                <a:spcPts val="13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750" b="0" i="0" u="none" strike="noStrike" cap="none" spc="0" baseline="0">
                <a:solidFill>
                  <a:schemeClr val="tx1"/>
                </a:solidFill>
                <a:uFillTx/>
                <a:latin typeface="Source Sans 3" panose="020B0303030403020204" pitchFamily="34" charset="0"/>
                <a:ea typeface="+mn-ea"/>
                <a:cs typeface="+mn-cs"/>
                <a:sym typeface="Teko Bold"/>
              </a:defRPr>
            </a:lvl7pPr>
            <a:lvl8pPr marL="685800" marR="0" indent="-228600" algn="l" defTabSz="914377" rtl="0" latinLnBrk="0">
              <a:lnSpc>
                <a:spcPct val="90000"/>
              </a:lnSpc>
              <a:spcBef>
                <a:spcPts val="13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750" b="0" i="0" u="none" strike="noStrike" cap="none" spc="0" baseline="0">
                <a:solidFill>
                  <a:schemeClr val="tx1"/>
                </a:solidFill>
                <a:uFillTx/>
                <a:latin typeface="Source Sans 3" panose="020B0303030403020204" pitchFamily="34" charset="0"/>
                <a:ea typeface="+mn-ea"/>
                <a:cs typeface="+mn-cs"/>
                <a:sym typeface="Teko Bold"/>
              </a:defRPr>
            </a:lvl8pPr>
            <a:lvl9pPr marL="914400" marR="0" indent="-228600" algn="l" defTabSz="914377" rtl="0" latinLnBrk="0">
              <a:lnSpc>
                <a:spcPct val="90000"/>
              </a:lnSpc>
              <a:spcBef>
                <a:spcPts val="13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750" b="0" i="0" u="none" strike="noStrike" cap="none" spc="0" baseline="0">
                <a:solidFill>
                  <a:schemeClr val="tx1"/>
                </a:solidFill>
                <a:uFillTx/>
                <a:latin typeface="Source Sans 3" panose="020B0303030403020204" pitchFamily="34" charset="0"/>
                <a:ea typeface="+mn-ea"/>
                <a:cs typeface="+mn-cs"/>
                <a:sym typeface="Teko Bold"/>
              </a:defRPr>
            </a:lvl9pPr>
          </a:lstStyle>
          <a:p>
            <a:pPr marL="0" indent="0" hangingPunct="1">
              <a:buFont typeface="Arial" panose="020B0604020202020204" pitchFamily="34" charset="0"/>
              <a:buNone/>
            </a:pPr>
            <a:r>
              <a:rPr lang="en-US" sz="2400" dirty="0"/>
              <a:t>Output Voltage Ripple: 26mV</a:t>
            </a:r>
          </a:p>
          <a:p>
            <a:pPr marL="0" indent="0" hangingPunct="1">
              <a:buFont typeface="Arial" panose="020B0604020202020204" pitchFamily="34" charset="0"/>
              <a:buNone/>
            </a:pPr>
            <a:r>
              <a:rPr lang="en-US" sz="2400" dirty="0"/>
              <a:t>Inductor Current Ripple: 0.4A</a:t>
            </a:r>
          </a:p>
          <a:p>
            <a:pPr marL="0" indent="0" hangingPunct="1">
              <a:buFont typeface="Arial" panose="020B0604020202020204" pitchFamily="34" charset="0"/>
              <a:buNone/>
            </a:pPr>
            <a:r>
              <a:rPr lang="en-US" sz="2400" dirty="0"/>
              <a:t>Output Current Ripple: 0.2A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AC4421C-6D4C-0FA4-96E5-6F677AE85440}"/>
              </a:ext>
            </a:extLst>
          </p:cNvPr>
          <p:cNvSpPr txBox="1">
            <a:spLocks/>
          </p:cNvSpPr>
          <p:nvPr/>
        </p:nvSpPr>
        <p:spPr>
          <a:xfrm>
            <a:off x="182880" y="4038805"/>
            <a:ext cx="3798921" cy="97147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marR="0" indent="-228600" algn="l" defTabSz="914377" rtl="0" latinLnBrk="0">
              <a:lnSpc>
                <a:spcPct val="100000"/>
              </a:lnSpc>
              <a:spcBef>
                <a:spcPts val="13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 i="0" u="none" strike="noStrike" cap="none" spc="0" baseline="0">
                <a:solidFill>
                  <a:schemeClr val="tx1"/>
                </a:solidFill>
                <a:uFillTx/>
                <a:latin typeface="Calibri" panose="020F0502020204030204" pitchFamily="34" charset="0"/>
                <a:ea typeface="+mn-ea"/>
                <a:cs typeface="+mn-cs"/>
                <a:sym typeface="Teko Bold"/>
              </a:defRPr>
            </a:lvl1pPr>
            <a:lvl2pPr marL="457200" marR="0" indent="-228600" algn="l" defTabSz="914377" rtl="0" latinLnBrk="0">
              <a:lnSpc>
                <a:spcPct val="100000"/>
              </a:lnSpc>
              <a:spcBef>
                <a:spcPts val="13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 i="0" u="none" strike="noStrike" cap="none" spc="0" baseline="0">
                <a:solidFill>
                  <a:schemeClr val="tx1"/>
                </a:solidFill>
                <a:uFillTx/>
                <a:latin typeface="Calibri" panose="020F0502020204030204" pitchFamily="34" charset="0"/>
                <a:ea typeface="+mn-ea"/>
                <a:cs typeface="+mn-cs"/>
                <a:sym typeface="Teko Bold"/>
              </a:defRPr>
            </a:lvl2pPr>
            <a:lvl3pPr marL="685800" marR="0" indent="-228600" algn="l" defTabSz="914377" rtl="0" latinLnBrk="0">
              <a:lnSpc>
                <a:spcPct val="100000"/>
              </a:lnSpc>
              <a:spcBef>
                <a:spcPts val="13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 i="0" u="none" strike="noStrike" cap="none" spc="0" baseline="0">
                <a:solidFill>
                  <a:schemeClr val="tx1"/>
                </a:solidFill>
                <a:uFillTx/>
                <a:latin typeface="Calibri" panose="020F0502020204030204" pitchFamily="34" charset="0"/>
                <a:ea typeface="+mn-ea"/>
                <a:cs typeface="+mn-cs"/>
                <a:sym typeface="Teko Bold"/>
              </a:defRPr>
            </a:lvl3pPr>
            <a:lvl4pPr marL="914400" marR="0" indent="-228600" algn="l" defTabSz="914377" rtl="0" latinLnBrk="0">
              <a:lnSpc>
                <a:spcPct val="100000"/>
              </a:lnSpc>
              <a:spcBef>
                <a:spcPts val="13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 i="0" u="none" strike="noStrike" cap="none" spc="0" baseline="0">
                <a:solidFill>
                  <a:schemeClr val="tx1"/>
                </a:solidFill>
                <a:uFillTx/>
                <a:latin typeface="Calibri" panose="020F0502020204030204" pitchFamily="34" charset="0"/>
                <a:ea typeface="+mn-ea"/>
                <a:cs typeface="+mn-cs"/>
                <a:sym typeface="Teko Bold"/>
              </a:defRPr>
            </a:lvl4pPr>
            <a:lvl5pPr marL="1143000" marR="0" indent="-228600" algn="l" defTabSz="914377" rtl="0" latinLnBrk="0">
              <a:lnSpc>
                <a:spcPct val="100000"/>
              </a:lnSpc>
              <a:spcBef>
                <a:spcPts val="13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 i="0" u="none" strike="noStrike" cap="none" spc="0" baseline="0">
                <a:solidFill>
                  <a:schemeClr val="tx1"/>
                </a:solidFill>
                <a:uFillTx/>
                <a:latin typeface="Calibri" panose="020F0502020204030204" pitchFamily="34" charset="0"/>
                <a:ea typeface="+mn-ea"/>
                <a:cs typeface="+mn-cs"/>
                <a:sym typeface="Teko Bold"/>
              </a:defRPr>
            </a:lvl5pPr>
            <a:lvl6pPr marL="914400" marR="0" indent="-228600" algn="l" defTabSz="914377" rtl="0" latinLnBrk="0">
              <a:lnSpc>
                <a:spcPct val="90000"/>
              </a:lnSpc>
              <a:spcBef>
                <a:spcPts val="13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750" b="0" i="0" u="none" strike="noStrike" cap="none" spc="0" baseline="0">
                <a:solidFill>
                  <a:schemeClr val="tx1"/>
                </a:solidFill>
                <a:uFillTx/>
                <a:latin typeface="Source Sans 3" panose="020B0303030403020204" pitchFamily="34" charset="0"/>
                <a:ea typeface="+mn-ea"/>
                <a:cs typeface="+mn-cs"/>
                <a:sym typeface="Teko Bold"/>
              </a:defRPr>
            </a:lvl6pPr>
            <a:lvl7pPr marL="457200" marR="0" indent="-228600" algn="l" defTabSz="914377" rtl="0" latinLnBrk="0">
              <a:lnSpc>
                <a:spcPct val="90000"/>
              </a:lnSpc>
              <a:spcBef>
                <a:spcPts val="13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750" b="0" i="0" u="none" strike="noStrike" cap="none" spc="0" baseline="0">
                <a:solidFill>
                  <a:schemeClr val="tx1"/>
                </a:solidFill>
                <a:uFillTx/>
                <a:latin typeface="Source Sans 3" panose="020B0303030403020204" pitchFamily="34" charset="0"/>
                <a:ea typeface="+mn-ea"/>
                <a:cs typeface="+mn-cs"/>
                <a:sym typeface="Teko Bold"/>
              </a:defRPr>
            </a:lvl7pPr>
            <a:lvl8pPr marL="685800" marR="0" indent="-228600" algn="l" defTabSz="914377" rtl="0" latinLnBrk="0">
              <a:lnSpc>
                <a:spcPct val="90000"/>
              </a:lnSpc>
              <a:spcBef>
                <a:spcPts val="13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750" b="0" i="0" u="none" strike="noStrike" cap="none" spc="0" baseline="0">
                <a:solidFill>
                  <a:schemeClr val="tx1"/>
                </a:solidFill>
                <a:uFillTx/>
                <a:latin typeface="Source Sans 3" panose="020B0303030403020204" pitchFamily="34" charset="0"/>
                <a:ea typeface="+mn-ea"/>
                <a:cs typeface="+mn-cs"/>
                <a:sym typeface="Teko Bold"/>
              </a:defRPr>
            </a:lvl8pPr>
            <a:lvl9pPr marL="914400" marR="0" indent="-228600" algn="l" defTabSz="914377" rtl="0" latinLnBrk="0">
              <a:lnSpc>
                <a:spcPct val="90000"/>
              </a:lnSpc>
              <a:spcBef>
                <a:spcPts val="13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750" b="0" i="0" u="none" strike="noStrike" cap="none" spc="0" baseline="0">
                <a:solidFill>
                  <a:schemeClr val="tx1"/>
                </a:solidFill>
                <a:uFillTx/>
                <a:latin typeface="Source Sans 3" panose="020B0303030403020204" pitchFamily="34" charset="0"/>
                <a:ea typeface="+mn-ea"/>
                <a:cs typeface="+mn-cs"/>
                <a:sym typeface="Teko Bold"/>
              </a:defRPr>
            </a:lvl9pPr>
          </a:lstStyle>
          <a:p>
            <a:pPr marL="0" indent="0" hangingPunct="1">
              <a:buFont typeface="Arial" panose="020B0604020202020204" pitchFamily="34" charset="0"/>
              <a:buNone/>
            </a:pPr>
            <a:r>
              <a:rPr lang="en-US" sz="1400" dirty="0"/>
              <a:t>Under nominal 1A output current 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3AA678E-445E-81F4-1AD6-99A4E015B436}"/>
              </a:ext>
            </a:extLst>
          </p:cNvPr>
          <p:cNvSpPr txBox="1">
            <a:spLocks/>
          </p:cNvSpPr>
          <p:nvPr/>
        </p:nvSpPr>
        <p:spPr>
          <a:xfrm>
            <a:off x="3770415" y="3876353"/>
            <a:ext cx="2517490" cy="1032873"/>
          </a:xfrm>
          <a:prstGeom prst="rect">
            <a:avLst/>
          </a:prstGeom>
        </p:spPr>
        <p:txBody>
          <a:bodyPr vert="horz" lIns="0" tIns="0" rIns="0" bIns="0" rtlCol="0">
            <a:normAutofit fontScale="62500" lnSpcReduction="20000"/>
          </a:bodyPr>
          <a:lstStyle>
            <a:lvl1pPr marL="228600" marR="0" indent="-228600" algn="l" defTabSz="914377" rtl="0" latinLnBrk="0">
              <a:lnSpc>
                <a:spcPct val="100000"/>
              </a:lnSpc>
              <a:spcBef>
                <a:spcPts val="13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 i="0" u="none" strike="noStrike" cap="none" spc="0" baseline="0">
                <a:solidFill>
                  <a:schemeClr val="tx1"/>
                </a:solidFill>
                <a:uFillTx/>
                <a:latin typeface="Calibri" panose="020F0502020204030204" pitchFamily="34" charset="0"/>
                <a:ea typeface="+mn-ea"/>
                <a:cs typeface="+mn-cs"/>
                <a:sym typeface="Teko Bold"/>
              </a:defRPr>
            </a:lvl1pPr>
            <a:lvl2pPr marL="457200" marR="0" indent="-228600" algn="l" defTabSz="914377" rtl="0" latinLnBrk="0">
              <a:lnSpc>
                <a:spcPct val="100000"/>
              </a:lnSpc>
              <a:spcBef>
                <a:spcPts val="13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 i="0" u="none" strike="noStrike" cap="none" spc="0" baseline="0">
                <a:solidFill>
                  <a:schemeClr val="tx1"/>
                </a:solidFill>
                <a:uFillTx/>
                <a:latin typeface="Calibri" panose="020F0502020204030204" pitchFamily="34" charset="0"/>
                <a:ea typeface="+mn-ea"/>
                <a:cs typeface="+mn-cs"/>
                <a:sym typeface="Teko Bold"/>
              </a:defRPr>
            </a:lvl2pPr>
            <a:lvl3pPr marL="685800" marR="0" indent="-228600" algn="l" defTabSz="914377" rtl="0" latinLnBrk="0">
              <a:lnSpc>
                <a:spcPct val="100000"/>
              </a:lnSpc>
              <a:spcBef>
                <a:spcPts val="13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 i="0" u="none" strike="noStrike" cap="none" spc="0" baseline="0">
                <a:solidFill>
                  <a:schemeClr val="tx1"/>
                </a:solidFill>
                <a:uFillTx/>
                <a:latin typeface="Calibri" panose="020F0502020204030204" pitchFamily="34" charset="0"/>
                <a:ea typeface="+mn-ea"/>
                <a:cs typeface="+mn-cs"/>
                <a:sym typeface="Teko Bold"/>
              </a:defRPr>
            </a:lvl3pPr>
            <a:lvl4pPr marL="914400" marR="0" indent="-228600" algn="l" defTabSz="914377" rtl="0" latinLnBrk="0">
              <a:lnSpc>
                <a:spcPct val="100000"/>
              </a:lnSpc>
              <a:spcBef>
                <a:spcPts val="13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 i="0" u="none" strike="noStrike" cap="none" spc="0" baseline="0">
                <a:solidFill>
                  <a:schemeClr val="tx1"/>
                </a:solidFill>
                <a:uFillTx/>
                <a:latin typeface="Calibri" panose="020F0502020204030204" pitchFamily="34" charset="0"/>
                <a:ea typeface="+mn-ea"/>
                <a:cs typeface="+mn-cs"/>
                <a:sym typeface="Teko Bold"/>
              </a:defRPr>
            </a:lvl4pPr>
            <a:lvl5pPr marL="1143000" marR="0" indent="-228600" algn="l" defTabSz="914377" rtl="0" latinLnBrk="0">
              <a:lnSpc>
                <a:spcPct val="100000"/>
              </a:lnSpc>
              <a:spcBef>
                <a:spcPts val="13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 i="0" u="none" strike="noStrike" cap="none" spc="0" baseline="0">
                <a:solidFill>
                  <a:schemeClr val="tx1"/>
                </a:solidFill>
                <a:uFillTx/>
                <a:latin typeface="Calibri" panose="020F0502020204030204" pitchFamily="34" charset="0"/>
                <a:ea typeface="+mn-ea"/>
                <a:cs typeface="+mn-cs"/>
                <a:sym typeface="Teko Bold"/>
              </a:defRPr>
            </a:lvl5pPr>
            <a:lvl6pPr marL="914400" marR="0" indent="-228600" algn="l" defTabSz="914377" rtl="0" latinLnBrk="0">
              <a:lnSpc>
                <a:spcPct val="90000"/>
              </a:lnSpc>
              <a:spcBef>
                <a:spcPts val="13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750" b="0" i="0" u="none" strike="noStrike" cap="none" spc="0" baseline="0">
                <a:solidFill>
                  <a:schemeClr val="tx1"/>
                </a:solidFill>
                <a:uFillTx/>
                <a:latin typeface="Source Sans 3" panose="020B0303030403020204" pitchFamily="34" charset="0"/>
                <a:ea typeface="+mn-ea"/>
                <a:cs typeface="+mn-cs"/>
                <a:sym typeface="Teko Bold"/>
              </a:defRPr>
            </a:lvl6pPr>
            <a:lvl7pPr marL="457200" marR="0" indent="-228600" algn="l" defTabSz="914377" rtl="0" latinLnBrk="0">
              <a:lnSpc>
                <a:spcPct val="90000"/>
              </a:lnSpc>
              <a:spcBef>
                <a:spcPts val="13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750" b="0" i="0" u="none" strike="noStrike" cap="none" spc="0" baseline="0">
                <a:solidFill>
                  <a:schemeClr val="tx1"/>
                </a:solidFill>
                <a:uFillTx/>
                <a:latin typeface="Source Sans 3" panose="020B0303030403020204" pitchFamily="34" charset="0"/>
                <a:ea typeface="+mn-ea"/>
                <a:cs typeface="+mn-cs"/>
                <a:sym typeface="Teko Bold"/>
              </a:defRPr>
            </a:lvl7pPr>
            <a:lvl8pPr marL="685800" marR="0" indent="-228600" algn="l" defTabSz="914377" rtl="0" latinLnBrk="0">
              <a:lnSpc>
                <a:spcPct val="90000"/>
              </a:lnSpc>
              <a:spcBef>
                <a:spcPts val="13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750" b="0" i="0" u="none" strike="noStrike" cap="none" spc="0" baseline="0">
                <a:solidFill>
                  <a:schemeClr val="tx1"/>
                </a:solidFill>
                <a:uFillTx/>
                <a:latin typeface="Source Sans 3" panose="020B0303030403020204" pitchFamily="34" charset="0"/>
                <a:ea typeface="+mn-ea"/>
                <a:cs typeface="+mn-cs"/>
                <a:sym typeface="Teko Bold"/>
              </a:defRPr>
            </a:lvl8pPr>
            <a:lvl9pPr marL="914400" marR="0" indent="-228600" algn="l" defTabSz="914377" rtl="0" latinLnBrk="0">
              <a:lnSpc>
                <a:spcPct val="90000"/>
              </a:lnSpc>
              <a:spcBef>
                <a:spcPts val="13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750" b="0" i="0" u="none" strike="noStrike" cap="none" spc="0" baseline="0">
                <a:solidFill>
                  <a:schemeClr val="tx1"/>
                </a:solidFill>
                <a:uFillTx/>
                <a:latin typeface="Source Sans 3" panose="020B0303030403020204" pitchFamily="34" charset="0"/>
                <a:ea typeface="+mn-ea"/>
                <a:cs typeface="+mn-cs"/>
                <a:sym typeface="Teko Bold"/>
              </a:defRPr>
            </a:lvl9pPr>
          </a:lstStyle>
          <a:p>
            <a:pPr marL="0" indent="0" hangingPunct="1">
              <a:buFont typeface="Arial" panose="020B0604020202020204" pitchFamily="34" charset="0"/>
              <a:buNone/>
            </a:pPr>
            <a:r>
              <a:rPr lang="en-US" sz="2400" dirty="0"/>
              <a:t>Average Output Voltage: 800mV</a:t>
            </a:r>
          </a:p>
          <a:p>
            <a:pPr marL="0" indent="0" hangingPunct="1">
              <a:buFont typeface="Arial" panose="020B0604020202020204" pitchFamily="34" charset="0"/>
              <a:buNone/>
            </a:pPr>
            <a:r>
              <a:rPr lang="en-US" sz="2400" dirty="0"/>
              <a:t>Average Output Current: 1A</a:t>
            </a:r>
          </a:p>
          <a:p>
            <a:pPr marL="0" indent="0" hangingPunct="1">
              <a:buFont typeface="Arial" panose="020B0604020202020204" pitchFamily="34" charset="0"/>
              <a:buNone/>
            </a:pPr>
            <a:r>
              <a:rPr lang="en-US" sz="2400" dirty="0"/>
              <a:t>Efficiency:                86.7%</a:t>
            </a:r>
          </a:p>
        </p:txBody>
      </p:sp>
    </p:spTree>
    <p:extLst>
      <p:ext uri="{BB962C8B-B14F-4D97-AF65-F5344CB8AC3E}">
        <p14:creationId xmlns:p14="http://schemas.microsoft.com/office/powerpoint/2010/main" val="3196402454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D3BFA-7451-06DA-1A66-66FAE8DA7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 Slides Macro Models Details 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F26F4DFF-EB4D-A3C0-07F0-78A24F096CF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57199" y="4847825"/>
            <a:ext cx="1625335" cy="219102"/>
          </a:xfrm>
        </p:spPr>
        <p:txBody>
          <a:bodyPr/>
          <a:lstStyle/>
          <a:p>
            <a:r>
              <a:rPr lang="en-US" dirty="0"/>
              <a:t>Buck Converter for RF Transceiver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030D2EC4-2CF3-92D2-12E9-9AC006A675E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82880" y="4847825"/>
            <a:ext cx="274319" cy="219101"/>
          </a:xfrm>
        </p:spPr>
        <p:txBody>
          <a:bodyPr/>
          <a:lstStyle/>
          <a:p>
            <a:r>
              <a:rPr lang="en-US" dirty="0"/>
              <a:t>11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7A09516-1AAC-E02D-6283-5E95B0514F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3591590"/>
              </p:ext>
            </p:extLst>
          </p:nvPr>
        </p:nvGraphicFramePr>
        <p:xfrm>
          <a:off x="6229917" y="1059561"/>
          <a:ext cx="2594044" cy="287812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297022">
                  <a:extLst>
                    <a:ext uri="{9D8B030D-6E8A-4147-A177-3AD203B41FA5}">
                      <a16:colId xmlns:a16="http://schemas.microsoft.com/office/drawing/2014/main" val="3078797680"/>
                    </a:ext>
                  </a:extLst>
                </a:gridCol>
                <a:gridCol w="1297022">
                  <a:extLst>
                    <a:ext uri="{9D8B030D-6E8A-4147-A177-3AD203B41FA5}">
                      <a16:colId xmlns:a16="http://schemas.microsoft.com/office/drawing/2014/main" val="694210826"/>
                    </a:ext>
                  </a:extLst>
                </a:gridCol>
              </a:tblGrid>
              <a:tr h="411032">
                <a:tc>
                  <a:txBody>
                    <a:bodyPr/>
                    <a:lstStyle/>
                    <a:p>
                      <a:r>
                        <a:rPr lang="en-US" sz="1050" dirty="0"/>
                        <a:t>Performance 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7317408"/>
                  </a:ext>
                </a:extLst>
              </a:tr>
              <a:tr h="411032">
                <a:tc>
                  <a:txBody>
                    <a:bodyPr/>
                    <a:lstStyle/>
                    <a:p>
                      <a:r>
                        <a:rPr lang="en-US" sz="1050" dirty="0"/>
                        <a:t>Input Voltage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1.8V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5035224"/>
                  </a:ext>
                </a:extLst>
              </a:tr>
              <a:tr h="411032">
                <a:tc>
                  <a:txBody>
                    <a:bodyPr/>
                    <a:lstStyle/>
                    <a:p>
                      <a:r>
                        <a:rPr lang="en-US" sz="1050" dirty="0"/>
                        <a:t>Output Voltage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0.8V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39430"/>
                  </a:ext>
                </a:extLst>
              </a:tr>
              <a:tr h="411032">
                <a:tc>
                  <a:txBody>
                    <a:bodyPr/>
                    <a:lstStyle/>
                    <a:p>
                      <a:r>
                        <a:rPr lang="en-US" sz="1050" dirty="0"/>
                        <a:t>Output Voltage Ripple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26mV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5569273"/>
                  </a:ext>
                </a:extLst>
              </a:tr>
              <a:tr h="411032">
                <a:tc>
                  <a:txBody>
                    <a:bodyPr/>
                    <a:lstStyle/>
                    <a:p>
                      <a:r>
                        <a:rPr lang="en-US" sz="1050" dirty="0"/>
                        <a:t>Switching Frequency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80 MHz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4486292"/>
                  </a:ext>
                </a:extLst>
              </a:tr>
              <a:tr h="411032">
                <a:tc>
                  <a:txBody>
                    <a:bodyPr/>
                    <a:lstStyle/>
                    <a:p>
                      <a:r>
                        <a:rPr lang="en-US" sz="1050" dirty="0"/>
                        <a:t>Efficiency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86.7%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569377"/>
                  </a:ext>
                </a:extLst>
              </a:tr>
              <a:tr h="411032">
                <a:tc>
                  <a:txBody>
                    <a:bodyPr/>
                    <a:lstStyle/>
                    <a:p>
                      <a:r>
                        <a:rPr lang="en-US" sz="1050" dirty="0"/>
                        <a:t>FOM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0.78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72913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B0AB205-F370-80FE-6B47-1345BD6C46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0515476"/>
              </p:ext>
            </p:extLst>
          </p:nvPr>
        </p:nvGraphicFramePr>
        <p:xfrm>
          <a:off x="320039" y="1059561"/>
          <a:ext cx="2594044" cy="3288256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297022">
                  <a:extLst>
                    <a:ext uri="{9D8B030D-6E8A-4147-A177-3AD203B41FA5}">
                      <a16:colId xmlns:a16="http://schemas.microsoft.com/office/drawing/2014/main" val="3078797680"/>
                    </a:ext>
                  </a:extLst>
                </a:gridCol>
                <a:gridCol w="1297022">
                  <a:extLst>
                    <a:ext uri="{9D8B030D-6E8A-4147-A177-3AD203B41FA5}">
                      <a16:colId xmlns:a16="http://schemas.microsoft.com/office/drawing/2014/main" val="694210826"/>
                    </a:ext>
                  </a:extLst>
                </a:gridCol>
              </a:tblGrid>
              <a:tr h="411032">
                <a:tc>
                  <a:txBody>
                    <a:bodyPr/>
                    <a:lstStyle/>
                    <a:p>
                      <a:r>
                        <a:rPr lang="en-US" sz="1000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7317408"/>
                  </a:ext>
                </a:extLst>
              </a:tr>
              <a:tr h="411032">
                <a:tc>
                  <a:txBody>
                    <a:bodyPr/>
                    <a:lstStyle/>
                    <a:p>
                      <a:r>
                        <a:rPr lang="en-US" sz="1000" dirty="0"/>
                        <a:t>Op Amp Gain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1000 V/V (60dB)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5035224"/>
                  </a:ext>
                </a:extLst>
              </a:tr>
              <a:tr h="411032">
                <a:tc>
                  <a:txBody>
                    <a:bodyPr/>
                    <a:lstStyle/>
                    <a:p>
                      <a:r>
                        <a:rPr lang="en-US" sz="1000" dirty="0"/>
                        <a:t>Op Amp Output Resistance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100kOhms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39430"/>
                  </a:ext>
                </a:extLst>
              </a:tr>
              <a:tr h="411032">
                <a:tc>
                  <a:txBody>
                    <a:bodyPr/>
                    <a:lstStyle/>
                    <a:p>
                      <a:r>
                        <a:rPr lang="en-US" sz="1000" dirty="0"/>
                        <a:t>Op Amp Output Capacitance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10pF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5569273"/>
                  </a:ext>
                </a:extLst>
              </a:tr>
              <a:tr h="411032">
                <a:tc>
                  <a:txBody>
                    <a:bodyPr/>
                    <a:lstStyle/>
                    <a:p>
                      <a:r>
                        <a:rPr lang="en-US" sz="1000" dirty="0"/>
                        <a:t>Switch On Resistance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46 </a:t>
                      </a:r>
                      <a:r>
                        <a:rPr lang="en-US" sz="1000" dirty="0" err="1"/>
                        <a:t>mOhms</a:t>
                      </a:r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4486292"/>
                  </a:ext>
                </a:extLst>
              </a:tr>
              <a:tr h="411032">
                <a:tc>
                  <a:txBody>
                    <a:bodyPr/>
                    <a:lstStyle/>
                    <a:p>
                      <a:r>
                        <a:rPr lang="en-US" sz="1000" dirty="0"/>
                        <a:t>Inductor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13.75 </a:t>
                      </a:r>
                      <a:r>
                        <a:rPr lang="en-US" sz="1000" dirty="0" err="1"/>
                        <a:t>nH</a:t>
                      </a:r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569377"/>
                  </a:ext>
                </a:extLst>
              </a:tr>
              <a:tr h="411032">
                <a:tc>
                  <a:txBody>
                    <a:bodyPr/>
                    <a:lstStyle/>
                    <a:p>
                      <a:r>
                        <a:rPr lang="en-US" sz="1000" dirty="0"/>
                        <a:t>Inductor DCR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60 </a:t>
                      </a:r>
                      <a:r>
                        <a:rPr lang="en-US" sz="1000" dirty="0" err="1"/>
                        <a:t>mOhms</a:t>
                      </a:r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643612"/>
                  </a:ext>
                </a:extLst>
              </a:tr>
              <a:tr h="411032">
                <a:tc>
                  <a:txBody>
                    <a:bodyPr/>
                    <a:lstStyle/>
                    <a:p>
                      <a:r>
                        <a:rPr lang="en-US" sz="1000" dirty="0"/>
                        <a:t>Capacitor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24nH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10447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D84B2B7F-4EFA-C3FF-418F-7CEB8E094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4113" y="1673157"/>
            <a:ext cx="2815774" cy="195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952443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34E93-DD7E-525D-1390-A2DA01BA7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F970D8-D529-2D30-DCB8-48ED72EBCE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199" y="1295780"/>
            <a:ext cx="8229600" cy="2046254"/>
          </a:xfrm>
        </p:spPr>
        <p:txBody>
          <a:bodyPr/>
          <a:lstStyle/>
          <a:p>
            <a:r>
              <a:rPr lang="en-US" dirty="0"/>
              <a:t>Top Level Transistor Design Assignments Unclear for Now</a:t>
            </a:r>
          </a:p>
          <a:p>
            <a:r>
              <a:rPr lang="en-US" dirty="0"/>
              <a:t>Currently Focusing on Macro Model Simulations with Real Power Switches and Passives</a:t>
            </a:r>
          </a:p>
          <a:p>
            <a:r>
              <a:rPr lang="en-US" dirty="0"/>
              <a:t>Full Loop Macro Model will inform specs for error amplifier and gate drivers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BC28EB74-A8F3-C56E-ACDE-CB0979AD56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57199" y="4847825"/>
            <a:ext cx="1625335" cy="219102"/>
          </a:xfrm>
        </p:spPr>
        <p:txBody>
          <a:bodyPr/>
          <a:lstStyle/>
          <a:p>
            <a:r>
              <a:rPr lang="en-US" dirty="0"/>
              <a:t>Buck Converter for RF Transceiver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B79FFB53-1608-74A2-DDBF-77E0391C5CD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82880" y="4847825"/>
            <a:ext cx="274319" cy="219101"/>
          </a:xfrm>
        </p:spPr>
        <p:txBody>
          <a:bodyPr/>
          <a:lstStyle/>
          <a:p>
            <a:r>
              <a:rPr lang="en-US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DEF068-F6BE-F51E-5B88-352A4210EF41}"/>
              </a:ext>
            </a:extLst>
          </p:cNvPr>
          <p:cNvSpPr txBox="1"/>
          <p:nvPr/>
        </p:nvSpPr>
        <p:spPr>
          <a:xfrm>
            <a:off x="1820558" y="3847720"/>
            <a:ext cx="10265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Source Sans 3 Regular"/>
              <a:ea typeface="Source Sans 3 Regular"/>
              <a:cs typeface="Source Sans 3 Regular"/>
              <a:sym typeface="Source Sans 3 Regular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A27778-970F-1A5B-4D40-6FA25177C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678" y="2902471"/>
            <a:ext cx="8746643" cy="1764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603927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Blue &amp; Gold">
      <a:dk1>
        <a:srgbClr val="182B48"/>
      </a:dk1>
      <a:lt1>
        <a:srgbClr val="FFCC00"/>
      </a:lt1>
      <a:dk2>
        <a:srgbClr val="182B48"/>
      </a:dk2>
      <a:lt2>
        <a:srgbClr val="FEFFFF"/>
      </a:lt2>
      <a:accent1>
        <a:srgbClr val="00629B"/>
      </a:accent1>
      <a:accent2>
        <a:srgbClr val="FFCC00"/>
      </a:accent2>
      <a:accent3>
        <a:srgbClr val="182B48"/>
      </a:accent3>
      <a:accent4>
        <a:srgbClr val="C59114"/>
      </a:accent4>
      <a:accent5>
        <a:srgbClr val="747578"/>
      </a:accent5>
      <a:accent6>
        <a:srgbClr val="FFCC00"/>
      </a:accent6>
      <a:hlink>
        <a:srgbClr val="00629B"/>
      </a:hlink>
      <a:folHlink>
        <a:srgbClr val="747578"/>
      </a:folHlink>
    </a:clrScheme>
    <a:fontScheme name="21_BasicWhite">
      <a:majorFont>
        <a:latin typeface="Teko Bold"/>
        <a:ea typeface="Teko Bold"/>
        <a:cs typeface="Teko Bold"/>
      </a:majorFont>
      <a:minorFont>
        <a:latin typeface="Teko Bold"/>
        <a:ea typeface="Teko Bold"/>
        <a:cs typeface="Teko Bold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Source Sans 3 Medium"/>
            <a:ea typeface="Source Sans 3 Medium"/>
            <a:cs typeface="Source Sans 3 Medium"/>
            <a:sym typeface="Source Sans 3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Source Sans 3 Regular"/>
            <a:ea typeface="Source Sans 3 Regular"/>
            <a:cs typeface="Source Sans 3 Regular"/>
            <a:sym typeface="Source Sans 3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Teko Bold"/>
        <a:ea typeface="Teko Bold"/>
        <a:cs typeface="Teko Bold"/>
      </a:majorFont>
      <a:minorFont>
        <a:latin typeface="Teko Bold"/>
        <a:ea typeface="Teko Bold"/>
        <a:cs typeface="Teko Bold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Source Sans 3 Medium"/>
            <a:ea typeface="Source Sans 3 Medium"/>
            <a:cs typeface="Source Sans 3 Medium"/>
            <a:sym typeface="Source Sans 3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Source Sans 3 Regular"/>
            <a:ea typeface="Source Sans 3 Regular"/>
            <a:cs typeface="Source Sans 3 Regular"/>
            <a:sym typeface="Source Sans 3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7209</TotalTime>
  <Words>867</Words>
  <Application>Microsoft Office PowerPoint</Application>
  <PresentationFormat>On-screen Show (16:9)</PresentationFormat>
  <Paragraphs>152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Source Sans 3</vt:lpstr>
      <vt:lpstr>Source Sans 3 Medium</vt:lpstr>
      <vt:lpstr>Source Sans 3 Regular</vt:lpstr>
      <vt:lpstr>21_BasicWhite</vt:lpstr>
      <vt:lpstr>ECE 263 Project Proposal</vt:lpstr>
      <vt:lpstr>Why do we need this Converter? </vt:lpstr>
      <vt:lpstr>Specifications</vt:lpstr>
      <vt:lpstr>Topology Selection </vt:lpstr>
      <vt:lpstr>Block Diagram of Buck Converter</vt:lpstr>
      <vt:lpstr>Optimization – Switches</vt:lpstr>
      <vt:lpstr>Optimization – Switches</vt:lpstr>
      <vt:lpstr>Optimization – Passives</vt:lpstr>
      <vt:lpstr>Macro Model of Circuit</vt:lpstr>
      <vt:lpstr>Macro Model of Circuit</vt:lpstr>
      <vt:lpstr>Macro Model of Circuit</vt:lpstr>
      <vt:lpstr>Backup Slides Macro Models Details </vt:lpstr>
      <vt:lpstr>Timeline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Notch Template</dc:title>
  <dc:creator>dorc lr</dc:creator>
  <cp:lastModifiedBy>Umino, Dylan</cp:lastModifiedBy>
  <cp:revision>51</cp:revision>
  <dcterms:modified xsi:type="dcterms:W3CDTF">2026-10-26T23:16:17Z</dcterms:modified>
</cp:coreProperties>
</file>